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Bricolage Grotesque Bold" charset="1" panose="020B0605040402000204"/>
      <p:regular r:id="rId22"/>
    </p:embeddedFont>
    <p:embeddedFont>
      <p:font typeface="Bricolage Grotesque" charset="1" panose="020B0605040402000204"/>
      <p:regular r:id="rId23"/>
    </p:embeddedFont>
    <p:embeddedFont>
      <p:font typeface="Nourd" charset="1" panose="00000500000000000000"/>
      <p:regular r:id="rId24"/>
    </p:embeddedFont>
    <p:embeddedFont>
      <p:font typeface="Canva Sans Bold" charset="1" panose="020B08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9.jpeg" Type="http://schemas.openxmlformats.org/officeDocument/2006/relationships/image"/><Relationship Id="rId7"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jpe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jpeg" Type="http://schemas.openxmlformats.org/officeDocument/2006/relationships/image"/><Relationship Id="rId11" Target="../media/image25.jpe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jpeg" Type="http://schemas.openxmlformats.org/officeDocument/2006/relationships/image"/><Relationship Id="rId11" Target="../media/image28.jpeg" Type="http://schemas.openxmlformats.org/officeDocument/2006/relationships/image"/><Relationship Id="rId12" Target="../media/image29.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2.png" Type="http://schemas.openxmlformats.org/officeDocument/2006/relationships/image"/><Relationship Id="rId7" Target="../media/image30.jpeg" Type="http://schemas.openxmlformats.org/officeDocument/2006/relationships/image"/><Relationship Id="rId8" Target="../media/image3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png" Type="http://schemas.openxmlformats.org/officeDocument/2006/relationships/image"/><Relationship Id="rId12" Target="../media/image43.png" Type="http://schemas.openxmlformats.org/officeDocument/2006/relationships/image"/><Relationship Id="rId13" Target="../media/image44.png" Type="http://schemas.openxmlformats.org/officeDocument/2006/relationships/image"/><Relationship Id="rId14" Target="../media/image45.png" Type="http://schemas.openxmlformats.org/officeDocument/2006/relationships/image"/><Relationship Id="rId15" Target="../media/image46.png" Type="http://schemas.openxmlformats.org/officeDocument/2006/relationships/image"/><Relationship Id="rId16" Target="../media/image47.png" Type="http://schemas.openxmlformats.org/officeDocument/2006/relationships/image"/><Relationship Id="rId17" Target="../media/image48.png" Type="http://schemas.openxmlformats.org/officeDocument/2006/relationships/image"/><Relationship Id="rId18" Target="../media/image49.png" Type="http://schemas.openxmlformats.org/officeDocument/2006/relationships/image"/><Relationship Id="rId19" Target="../media/image50.pn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 Id="rId9" Target="../media/image4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2.png" Type="http://schemas.openxmlformats.org/officeDocument/2006/relationships/image"/><Relationship Id="rId9" Target="../media/image5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2.png" Type="http://schemas.openxmlformats.org/officeDocument/2006/relationships/image"/><Relationship Id="rId7" Target="../media/image5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3093678">
            <a:off x="8661818" y="1897465"/>
            <a:ext cx="14781928" cy="10696741"/>
          </a:xfrm>
          <a:custGeom>
            <a:avLst/>
            <a:gdLst/>
            <a:ahLst/>
            <a:cxnLst/>
            <a:rect r="r" b="b" t="t" l="l"/>
            <a:pathLst>
              <a:path h="10696741" w="14781928">
                <a:moveTo>
                  <a:pt x="0" y="0"/>
                </a:moveTo>
                <a:lnTo>
                  <a:pt x="14781928" y="0"/>
                </a:lnTo>
                <a:lnTo>
                  <a:pt x="14781928" y="10696741"/>
                </a:lnTo>
                <a:lnTo>
                  <a:pt x="0" y="10696741"/>
                </a:lnTo>
                <a:lnTo>
                  <a:pt x="0" y="0"/>
                </a:lnTo>
                <a:close/>
              </a:path>
            </a:pathLst>
          </a:custGeom>
          <a:blipFill>
            <a:blip r:embed="rId2">
              <a:alphaModFix amt="2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342304">
            <a:off x="-4780674" y="482139"/>
            <a:ext cx="8802070" cy="5889385"/>
          </a:xfrm>
          <a:custGeom>
            <a:avLst/>
            <a:gdLst/>
            <a:ahLst/>
            <a:cxnLst/>
            <a:rect r="r" b="b" t="t" l="l"/>
            <a:pathLst>
              <a:path h="5889385" w="8802070">
                <a:moveTo>
                  <a:pt x="0" y="0"/>
                </a:moveTo>
                <a:lnTo>
                  <a:pt x="8802070" y="0"/>
                </a:lnTo>
                <a:lnTo>
                  <a:pt x="8802070" y="5889384"/>
                </a:lnTo>
                <a:lnTo>
                  <a:pt x="0" y="5889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954174" y="8025493"/>
            <a:ext cx="3194581" cy="4114800"/>
          </a:xfrm>
          <a:custGeom>
            <a:avLst/>
            <a:gdLst/>
            <a:ahLst/>
            <a:cxnLst/>
            <a:rect r="r" b="b" t="t" l="l"/>
            <a:pathLst>
              <a:path h="4114800" w="3194581">
                <a:moveTo>
                  <a:pt x="0" y="0"/>
                </a:moveTo>
                <a:lnTo>
                  <a:pt x="3194581" y="0"/>
                </a:lnTo>
                <a:lnTo>
                  <a:pt x="319458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9823534" y="-2625991"/>
            <a:ext cx="3194581" cy="4114800"/>
          </a:xfrm>
          <a:custGeom>
            <a:avLst/>
            <a:gdLst/>
            <a:ahLst/>
            <a:cxnLst/>
            <a:rect r="r" b="b" t="t" l="l"/>
            <a:pathLst>
              <a:path h="4114800" w="3194581">
                <a:moveTo>
                  <a:pt x="0" y="0"/>
                </a:moveTo>
                <a:lnTo>
                  <a:pt x="3194581" y="0"/>
                </a:lnTo>
                <a:lnTo>
                  <a:pt x="319458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028700" y="3022823"/>
            <a:ext cx="14872679" cy="3450153"/>
          </a:xfrm>
          <a:prstGeom prst="rect">
            <a:avLst/>
          </a:prstGeom>
        </p:spPr>
        <p:txBody>
          <a:bodyPr anchor="t" rtlCol="false" tIns="0" lIns="0" bIns="0" rIns="0">
            <a:spAutoFit/>
          </a:bodyPr>
          <a:lstStyle/>
          <a:p>
            <a:pPr algn="l">
              <a:lnSpc>
                <a:spcPts val="13530"/>
              </a:lnSpc>
            </a:pPr>
            <a:r>
              <a:rPr lang="en-US" sz="11664" b="true">
                <a:solidFill>
                  <a:srgbClr val="FFFFFF"/>
                </a:solidFill>
                <a:latin typeface="Bricolage Grotesque Bold"/>
                <a:ea typeface="Bricolage Grotesque Bold"/>
                <a:cs typeface="Bricolage Grotesque Bold"/>
                <a:sym typeface="Bricolage Grotesque Bold"/>
              </a:rPr>
              <a:t>PROYECTO ‘AQUATRACKING’</a:t>
            </a:r>
          </a:p>
        </p:txBody>
      </p:sp>
      <p:sp>
        <p:nvSpPr>
          <p:cNvPr name="TextBox 7" id="7"/>
          <p:cNvSpPr txBox="true"/>
          <p:nvPr/>
        </p:nvSpPr>
        <p:spPr>
          <a:xfrm rot="0">
            <a:off x="1028700" y="6747840"/>
            <a:ext cx="9494213" cy="591549"/>
          </a:xfrm>
          <a:prstGeom prst="rect">
            <a:avLst/>
          </a:prstGeom>
        </p:spPr>
        <p:txBody>
          <a:bodyPr anchor="t" rtlCol="false" tIns="0" lIns="0" bIns="0" rIns="0">
            <a:spAutoFit/>
          </a:bodyPr>
          <a:lstStyle/>
          <a:p>
            <a:pPr algn="l">
              <a:lnSpc>
                <a:spcPts val="4585"/>
              </a:lnSpc>
            </a:pPr>
            <a:r>
              <a:rPr lang="en-US" sz="3952">
                <a:solidFill>
                  <a:srgbClr val="FFFFFF"/>
                </a:solidFill>
                <a:latin typeface="Bricolage Grotesque"/>
                <a:ea typeface="Bricolage Grotesque"/>
                <a:cs typeface="Bricolage Grotesque"/>
                <a:sym typeface="Bricolage Grotesque"/>
              </a:rPr>
              <a:t>PRESENTACIÓN FINAL CAPSTONE</a:t>
            </a:r>
          </a:p>
        </p:txBody>
      </p:sp>
      <p:sp>
        <p:nvSpPr>
          <p:cNvPr name="TextBox 8" id="8"/>
          <p:cNvSpPr txBox="true"/>
          <p:nvPr/>
        </p:nvSpPr>
        <p:spPr>
          <a:xfrm rot="0">
            <a:off x="1028700" y="7573568"/>
            <a:ext cx="9494213" cy="365125"/>
          </a:xfrm>
          <a:prstGeom prst="rect">
            <a:avLst/>
          </a:prstGeom>
        </p:spPr>
        <p:txBody>
          <a:bodyPr anchor="t" rtlCol="false" tIns="0" lIns="0" bIns="0" rIns="0">
            <a:spAutoFit/>
          </a:bodyPr>
          <a:lstStyle/>
          <a:p>
            <a:pPr algn="l">
              <a:lnSpc>
                <a:spcPts val="2899"/>
              </a:lnSpc>
            </a:pPr>
            <a:r>
              <a:rPr lang="en-US" sz="2499">
                <a:solidFill>
                  <a:srgbClr val="FFFFFF"/>
                </a:solidFill>
                <a:latin typeface="Bricolage Grotesque"/>
                <a:ea typeface="Bricolage Grotesque"/>
                <a:cs typeface="Bricolage Grotesque"/>
                <a:sym typeface="Bricolage Grotesque"/>
              </a:rPr>
              <a:t>DICIEMBRE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8382830">
            <a:off x="14221913" y="8358436"/>
            <a:ext cx="8802070" cy="5889385"/>
          </a:xfrm>
          <a:custGeom>
            <a:avLst/>
            <a:gdLst/>
            <a:ahLst/>
            <a:cxnLst/>
            <a:rect r="r" b="b" t="t" l="l"/>
            <a:pathLst>
              <a:path h="5889385" w="8802070">
                <a:moveTo>
                  <a:pt x="0" y="0"/>
                </a:moveTo>
                <a:lnTo>
                  <a:pt x="8802070" y="0"/>
                </a:lnTo>
                <a:lnTo>
                  <a:pt x="8802070" y="5889385"/>
                </a:lnTo>
                <a:lnTo>
                  <a:pt x="0" y="5889385"/>
                </a:lnTo>
                <a:lnTo>
                  <a:pt x="0" y="0"/>
                </a:lnTo>
                <a:close/>
              </a:path>
            </a:pathLst>
          </a:custGeom>
          <a:blipFill>
            <a:blip r:embed="rId3">
              <a:alphaModFix amt="46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342304">
            <a:off x="-854567" y="-4387090"/>
            <a:ext cx="8802070" cy="5889385"/>
          </a:xfrm>
          <a:custGeom>
            <a:avLst/>
            <a:gdLst/>
            <a:ahLst/>
            <a:cxnLst/>
            <a:rect r="r" b="b" t="t" l="l"/>
            <a:pathLst>
              <a:path h="5889385" w="8802070">
                <a:moveTo>
                  <a:pt x="0" y="0"/>
                </a:moveTo>
                <a:lnTo>
                  <a:pt x="8802070" y="0"/>
                </a:lnTo>
                <a:lnTo>
                  <a:pt x="8802070" y="5889385"/>
                </a:lnTo>
                <a:lnTo>
                  <a:pt x="0" y="58893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546468" y="2759322"/>
            <a:ext cx="4774325" cy="4768357"/>
          </a:xfrm>
          <a:custGeom>
            <a:avLst/>
            <a:gdLst/>
            <a:ahLst/>
            <a:cxnLst/>
            <a:rect r="r" b="b" t="t" l="l"/>
            <a:pathLst>
              <a:path h="4768357" w="4774325">
                <a:moveTo>
                  <a:pt x="0" y="0"/>
                </a:moveTo>
                <a:lnTo>
                  <a:pt x="4774324" y="0"/>
                </a:lnTo>
                <a:lnTo>
                  <a:pt x="4774324" y="4768356"/>
                </a:lnTo>
                <a:lnTo>
                  <a:pt x="0" y="4768356"/>
                </a:lnTo>
                <a:lnTo>
                  <a:pt x="0" y="0"/>
                </a:lnTo>
                <a:close/>
              </a:path>
            </a:pathLst>
          </a:custGeom>
          <a:blipFill>
            <a:blip r:embed="rId5">
              <a:alphaModFix amt="44999"/>
            </a:blip>
            <a:stretch>
              <a:fillRect l="0" t="0" r="0" b="0"/>
            </a:stretch>
          </a:blipFill>
        </p:spPr>
      </p:sp>
      <p:grpSp>
        <p:nvGrpSpPr>
          <p:cNvPr name="Group 6" id="6"/>
          <p:cNvGrpSpPr>
            <a:grpSpLocks noChangeAspect="true"/>
          </p:cNvGrpSpPr>
          <p:nvPr/>
        </p:nvGrpSpPr>
        <p:grpSpPr>
          <a:xfrm rot="0">
            <a:off x="4252122" y="3466056"/>
            <a:ext cx="3354902" cy="3354888"/>
            <a:chOff x="0" y="0"/>
            <a:chExt cx="6350000" cy="6349975"/>
          </a:xfrm>
        </p:grpSpPr>
        <p:sp>
          <p:nvSpPr>
            <p:cNvPr name="Freeform 7" id="7"/>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19620" t="-45385" r="-19802" b="-102779"/>
              </a:stretch>
            </a:blipFill>
          </p:spPr>
        </p:sp>
      </p:grpSp>
      <p:sp>
        <p:nvSpPr>
          <p:cNvPr name="Freeform 8" id="8"/>
          <p:cNvSpPr/>
          <p:nvPr/>
        </p:nvSpPr>
        <p:spPr>
          <a:xfrm flipH="false" flipV="false" rot="0">
            <a:off x="9653165" y="2854519"/>
            <a:ext cx="4774325" cy="4768357"/>
          </a:xfrm>
          <a:custGeom>
            <a:avLst/>
            <a:gdLst/>
            <a:ahLst/>
            <a:cxnLst/>
            <a:rect r="r" b="b" t="t" l="l"/>
            <a:pathLst>
              <a:path h="4768357" w="4774325">
                <a:moveTo>
                  <a:pt x="0" y="0"/>
                </a:moveTo>
                <a:lnTo>
                  <a:pt x="4774325" y="0"/>
                </a:lnTo>
                <a:lnTo>
                  <a:pt x="4774325" y="4768356"/>
                </a:lnTo>
                <a:lnTo>
                  <a:pt x="0" y="4768356"/>
                </a:lnTo>
                <a:lnTo>
                  <a:pt x="0" y="0"/>
                </a:lnTo>
                <a:close/>
              </a:path>
            </a:pathLst>
          </a:custGeom>
          <a:blipFill>
            <a:blip r:embed="rId5">
              <a:alphaModFix amt="44999"/>
            </a:blip>
            <a:stretch>
              <a:fillRect l="0" t="0" r="0" b="0"/>
            </a:stretch>
          </a:blipFill>
        </p:spPr>
      </p:sp>
      <p:grpSp>
        <p:nvGrpSpPr>
          <p:cNvPr name="Group 9" id="9"/>
          <p:cNvGrpSpPr>
            <a:grpSpLocks noChangeAspect="true"/>
          </p:cNvGrpSpPr>
          <p:nvPr/>
        </p:nvGrpSpPr>
        <p:grpSpPr>
          <a:xfrm rot="0">
            <a:off x="10362877" y="3466056"/>
            <a:ext cx="3354902" cy="3354888"/>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7"/>
              <a:stretch>
                <a:fillRect l="0" t="-19930" r="0" b="-19930"/>
              </a:stretch>
            </a:blipFill>
          </p:spPr>
        </p:sp>
      </p:grpSp>
      <p:sp>
        <p:nvSpPr>
          <p:cNvPr name="TextBox 11" id="11"/>
          <p:cNvSpPr txBox="true"/>
          <p:nvPr/>
        </p:nvSpPr>
        <p:spPr>
          <a:xfrm rot="0">
            <a:off x="9843515" y="7239963"/>
            <a:ext cx="4393625" cy="450215"/>
          </a:xfrm>
          <a:prstGeom prst="rect">
            <a:avLst/>
          </a:prstGeom>
        </p:spPr>
        <p:txBody>
          <a:bodyPr anchor="t" rtlCol="false" tIns="0" lIns="0" bIns="0" rIns="0">
            <a:spAutoFit/>
          </a:bodyPr>
          <a:lstStyle/>
          <a:p>
            <a:pPr algn="ctr" marL="0" indent="0" lvl="0">
              <a:lnSpc>
                <a:spcPts val="3639"/>
              </a:lnSpc>
              <a:spcBef>
                <a:spcPct val="0"/>
              </a:spcBef>
            </a:pPr>
            <a:r>
              <a:rPr lang="en-US" b="true" sz="2799">
                <a:solidFill>
                  <a:srgbClr val="FFFFFF"/>
                </a:solidFill>
                <a:latin typeface="Bricolage Grotesque Bold"/>
                <a:ea typeface="Bricolage Grotesque Bold"/>
                <a:cs typeface="Bricolage Grotesque Bold"/>
                <a:sym typeface="Bricolage Grotesque Bold"/>
              </a:rPr>
              <a:t>Juan José Aguero</a:t>
            </a:r>
          </a:p>
        </p:txBody>
      </p:sp>
      <p:sp>
        <p:nvSpPr>
          <p:cNvPr name="TextBox 12" id="12"/>
          <p:cNvSpPr txBox="true"/>
          <p:nvPr/>
        </p:nvSpPr>
        <p:spPr>
          <a:xfrm rot="0">
            <a:off x="9843515" y="7882202"/>
            <a:ext cx="4393625" cy="35623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Nourd"/>
                <a:ea typeface="Nourd"/>
                <a:cs typeface="Nourd"/>
                <a:sym typeface="Nourd"/>
              </a:rPr>
              <a:t>Developer</a:t>
            </a:r>
          </a:p>
        </p:txBody>
      </p:sp>
      <p:sp>
        <p:nvSpPr>
          <p:cNvPr name="TextBox 13" id="13"/>
          <p:cNvSpPr txBox="true"/>
          <p:nvPr/>
        </p:nvSpPr>
        <p:spPr>
          <a:xfrm rot="0">
            <a:off x="3732760" y="7239963"/>
            <a:ext cx="4393625" cy="450215"/>
          </a:xfrm>
          <a:prstGeom prst="rect">
            <a:avLst/>
          </a:prstGeom>
        </p:spPr>
        <p:txBody>
          <a:bodyPr anchor="t" rtlCol="false" tIns="0" lIns="0" bIns="0" rIns="0">
            <a:spAutoFit/>
          </a:bodyPr>
          <a:lstStyle/>
          <a:p>
            <a:pPr algn="ctr" marL="0" indent="0" lvl="0">
              <a:lnSpc>
                <a:spcPts val="3639"/>
              </a:lnSpc>
              <a:spcBef>
                <a:spcPct val="0"/>
              </a:spcBef>
            </a:pPr>
            <a:r>
              <a:rPr lang="en-US" b="true" sz="2799">
                <a:solidFill>
                  <a:srgbClr val="FFFFFF"/>
                </a:solidFill>
                <a:latin typeface="Bricolage Grotesque Bold"/>
                <a:ea typeface="Bricolage Grotesque Bold"/>
                <a:cs typeface="Bricolage Grotesque Bold"/>
                <a:sym typeface="Bricolage Grotesque Bold"/>
              </a:rPr>
              <a:t>Andres Silva</a:t>
            </a:r>
          </a:p>
        </p:txBody>
      </p:sp>
      <p:sp>
        <p:nvSpPr>
          <p:cNvPr name="TextBox 14" id="14"/>
          <p:cNvSpPr txBox="true"/>
          <p:nvPr/>
        </p:nvSpPr>
        <p:spPr>
          <a:xfrm rot="0">
            <a:off x="3732760" y="7882202"/>
            <a:ext cx="4393625" cy="35623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Nourd"/>
                <a:ea typeface="Nourd"/>
                <a:cs typeface="Nourd"/>
                <a:sym typeface="Nourd"/>
              </a:rPr>
              <a:t>Product Owner</a:t>
            </a:r>
          </a:p>
        </p:txBody>
      </p:sp>
      <p:sp>
        <p:nvSpPr>
          <p:cNvPr name="TextBox 15" id="15"/>
          <p:cNvSpPr txBox="true"/>
          <p:nvPr/>
        </p:nvSpPr>
        <p:spPr>
          <a:xfrm rot="0">
            <a:off x="1028700" y="1500501"/>
            <a:ext cx="16230600" cy="1228725"/>
          </a:xfrm>
          <a:prstGeom prst="rect">
            <a:avLst/>
          </a:prstGeom>
        </p:spPr>
        <p:txBody>
          <a:bodyPr anchor="t" rtlCol="false" tIns="0" lIns="0" bIns="0" rIns="0">
            <a:spAutoFit/>
          </a:bodyPr>
          <a:lstStyle/>
          <a:p>
            <a:pPr algn="ctr" marL="0" indent="0" lvl="0">
              <a:lnSpc>
                <a:spcPts val="9600"/>
              </a:lnSpc>
              <a:spcBef>
                <a:spcPct val="0"/>
              </a:spcBef>
            </a:pPr>
            <a:r>
              <a:rPr lang="en-US" b="true" sz="8000" spc="504">
                <a:solidFill>
                  <a:srgbClr val="FFFFFF"/>
                </a:solidFill>
                <a:latin typeface="Bricolage Grotesque Bold"/>
                <a:ea typeface="Bricolage Grotesque Bold"/>
                <a:cs typeface="Bricolage Grotesque Bold"/>
                <a:sym typeface="Bricolage Grotesque Bold"/>
              </a:rPr>
              <a:t>INTEGRANTES</a:t>
            </a:r>
          </a:p>
        </p:txBody>
      </p:sp>
      <p:sp>
        <p:nvSpPr>
          <p:cNvPr name="TextBox 16" id="16"/>
          <p:cNvSpPr txBox="true"/>
          <p:nvPr/>
        </p:nvSpPr>
        <p:spPr>
          <a:xfrm rot="0">
            <a:off x="3732760" y="8428937"/>
            <a:ext cx="4393625" cy="1099185"/>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Nourd"/>
                <a:ea typeface="Nourd"/>
                <a:cs typeface="Nourd"/>
                <a:sym typeface="Nourd"/>
              </a:rPr>
              <a:t>Documentador, Chatbot, Ingeniería de sensores, Asignador, consumo de datos streaming</a:t>
            </a:r>
          </a:p>
        </p:txBody>
      </p:sp>
      <p:sp>
        <p:nvSpPr>
          <p:cNvPr name="TextBox 17" id="17"/>
          <p:cNvSpPr txBox="true"/>
          <p:nvPr/>
        </p:nvSpPr>
        <p:spPr>
          <a:xfrm rot="0">
            <a:off x="9843515" y="8428937"/>
            <a:ext cx="4393625" cy="1470660"/>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Nourd"/>
                <a:ea typeface="Nourd"/>
                <a:cs typeface="Nourd"/>
                <a:sym typeface="Nourd"/>
              </a:rPr>
              <a:t>Gestor de endpoints, desarrollador  Frontend y backend, Modelo de predicción, gestor de base de datos.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9583321">
            <a:off x="7923347" y="7882920"/>
            <a:ext cx="8802070" cy="5889385"/>
          </a:xfrm>
          <a:custGeom>
            <a:avLst/>
            <a:gdLst/>
            <a:ahLst/>
            <a:cxnLst/>
            <a:rect r="r" b="b" t="t" l="l"/>
            <a:pathLst>
              <a:path h="5889385" w="8802070">
                <a:moveTo>
                  <a:pt x="0" y="0"/>
                </a:moveTo>
                <a:lnTo>
                  <a:pt x="8802069" y="0"/>
                </a:lnTo>
                <a:lnTo>
                  <a:pt x="8802069" y="5889384"/>
                </a:lnTo>
                <a:lnTo>
                  <a:pt x="0" y="58893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201613" y="-1031149"/>
            <a:ext cx="9470069" cy="14205104"/>
            <a:chOff x="0" y="0"/>
            <a:chExt cx="6350000" cy="9525000"/>
          </a:xfrm>
        </p:grpSpPr>
        <p:sp>
          <p:nvSpPr>
            <p:cNvPr name="Freeform 4" id="4"/>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4">
                <a:alphaModFix amt="6000"/>
              </a:blip>
              <a:stretch>
                <a:fillRect l="-62570" t="0" r="-62570" b="0"/>
              </a:stretch>
            </a:blipFill>
          </p:spPr>
        </p:sp>
      </p:grpSp>
      <p:sp>
        <p:nvSpPr>
          <p:cNvPr name="Freeform 5" id="5"/>
          <p:cNvSpPr/>
          <p:nvPr/>
        </p:nvSpPr>
        <p:spPr>
          <a:xfrm flipH="false" flipV="false" rot="-2051616">
            <a:off x="-568591" y="7735239"/>
            <a:ext cx="3194581" cy="4114800"/>
          </a:xfrm>
          <a:custGeom>
            <a:avLst/>
            <a:gdLst/>
            <a:ahLst/>
            <a:cxnLst/>
            <a:rect r="r" b="b" t="t" l="l"/>
            <a:pathLst>
              <a:path h="4114800" w="3194581">
                <a:moveTo>
                  <a:pt x="0" y="0"/>
                </a:moveTo>
                <a:lnTo>
                  <a:pt x="3194582" y="0"/>
                </a:lnTo>
                <a:lnTo>
                  <a:pt x="3194582"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5400000">
            <a:off x="16444237" y="-1932026"/>
            <a:ext cx="3194581" cy="4114800"/>
          </a:xfrm>
          <a:custGeom>
            <a:avLst/>
            <a:gdLst/>
            <a:ahLst/>
            <a:cxnLst/>
            <a:rect r="r" b="b" t="t" l="l"/>
            <a:pathLst>
              <a:path h="4114800" w="3194581">
                <a:moveTo>
                  <a:pt x="0" y="0"/>
                </a:moveTo>
                <a:lnTo>
                  <a:pt x="3194581" y="0"/>
                </a:lnTo>
                <a:lnTo>
                  <a:pt x="319458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6832242" y="6540136"/>
            <a:ext cx="4343785" cy="4114800"/>
          </a:xfrm>
          <a:custGeom>
            <a:avLst/>
            <a:gdLst/>
            <a:ahLst/>
            <a:cxnLst/>
            <a:rect r="r" b="b" t="t" l="l"/>
            <a:pathLst>
              <a:path h="4114800" w="4343785">
                <a:moveTo>
                  <a:pt x="0" y="0"/>
                </a:moveTo>
                <a:lnTo>
                  <a:pt x="4343785" y="0"/>
                </a:lnTo>
                <a:lnTo>
                  <a:pt x="4343785"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649816" y="4568461"/>
            <a:ext cx="6146856" cy="3857625"/>
          </a:xfrm>
          <a:prstGeom prst="rect">
            <a:avLst/>
          </a:prstGeom>
        </p:spPr>
        <p:txBody>
          <a:bodyPr anchor="t" rtlCol="false" tIns="0" lIns="0" bIns="0" rIns="0">
            <a:spAutoFit/>
          </a:bodyPr>
          <a:lstStyle/>
          <a:p>
            <a:pPr algn="l">
              <a:lnSpc>
                <a:spcPts val="3899"/>
              </a:lnSpc>
            </a:pPr>
            <a:r>
              <a:rPr lang="en-US" sz="2499">
                <a:solidFill>
                  <a:srgbClr val="FFFFFF"/>
                </a:solidFill>
                <a:latin typeface="Bricolage Grotesque"/>
                <a:ea typeface="Bricolage Grotesque"/>
                <a:cs typeface="Bricolage Grotesque"/>
                <a:sym typeface="Bricolage Grotesque"/>
              </a:rPr>
              <a:t>Actualmente, los hogares carecen de herramientas accesibles que les permitan monitorear, entender y gestionar su propio consumo en detalle. Sin esta visibilidad, es imposible identificar patrones o fomentar hábitos de ahorro.</a:t>
            </a:r>
          </a:p>
          <a:p>
            <a:pPr algn="l">
              <a:lnSpc>
                <a:spcPts val="3899"/>
              </a:lnSpc>
            </a:pPr>
          </a:p>
        </p:txBody>
      </p:sp>
      <p:sp>
        <p:nvSpPr>
          <p:cNvPr name="TextBox 9" id="9"/>
          <p:cNvSpPr txBox="true"/>
          <p:nvPr/>
        </p:nvSpPr>
        <p:spPr>
          <a:xfrm rot="0">
            <a:off x="1028700" y="1435411"/>
            <a:ext cx="5993244" cy="1807764"/>
          </a:xfrm>
          <a:prstGeom prst="rect">
            <a:avLst/>
          </a:prstGeom>
        </p:spPr>
        <p:txBody>
          <a:bodyPr anchor="t" rtlCol="false" tIns="0" lIns="0" bIns="0" rIns="0">
            <a:spAutoFit/>
          </a:bodyPr>
          <a:lstStyle/>
          <a:p>
            <a:pPr algn="l">
              <a:lnSpc>
                <a:spcPts val="4701"/>
              </a:lnSpc>
            </a:pPr>
            <a:r>
              <a:rPr lang="en-US" sz="4052" b="true">
                <a:solidFill>
                  <a:srgbClr val="FFFFFF"/>
                </a:solidFill>
                <a:latin typeface="Bricolage Grotesque Bold"/>
                <a:ea typeface="Bricolage Grotesque Bold"/>
                <a:cs typeface="Bricolage Grotesque Bold"/>
                <a:sym typeface="Bricolage Grotesque Bold"/>
              </a:rPr>
              <a:t>DESCRIPCIÓN DEL PROYECTO</a:t>
            </a:r>
          </a:p>
          <a:p>
            <a:pPr algn="l">
              <a:lnSpc>
                <a:spcPts val="4701"/>
              </a:lnSpc>
            </a:pPr>
          </a:p>
        </p:txBody>
      </p:sp>
      <p:sp>
        <p:nvSpPr>
          <p:cNvPr name="TextBox 10" id="10"/>
          <p:cNvSpPr txBox="true"/>
          <p:nvPr/>
        </p:nvSpPr>
        <p:spPr>
          <a:xfrm rot="0">
            <a:off x="1649816" y="3719037"/>
            <a:ext cx="5993244" cy="512840"/>
          </a:xfrm>
          <a:prstGeom prst="rect">
            <a:avLst/>
          </a:prstGeom>
        </p:spPr>
        <p:txBody>
          <a:bodyPr anchor="t" rtlCol="false" tIns="0" lIns="0" bIns="0" rIns="0">
            <a:spAutoFit/>
          </a:bodyPr>
          <a:lstStyle/>
          <a:p>
            <a:pPr algn="l">
              <a:lnSpc>
                <a:spcPts val="4005"/>
              </a:lnSpc>
            </a:pPr>
            <a:r>
              <a:rPr lang="en-US" sz="3452" b="true">
                <a:solidFill>
                  <a:srgbClr val="FFFFFF"/>
                </a:solidFill>
                <a:latin typeface="Canva Sans Bold"/>
                <a:ea typeface="Canva Sans Bold"/>
                <a:cs typeface="Canva Sans Bold"/>
                <a:sym typeface="Canva Sans Bold"/>
              </a:rPr>
              <a:t>PROBLEMATICA</a:t>
            </a:r>
          </a:p>
        </p:txBody>
      </p:sp>
      <p:sp>
        <p:nvSpPr>
          <p:cNvPr name="TextBox 11" id="11"/>
          <p:cNvSpPr txBox="true"/>
          <p:nvPr/>
        </p:nvSpPr>
        <p:spPr>
          <a:xfrm rot="0">
            <a:off x="9837272" y="4568461"/>
            <a:ext cx="6146856" cy="2886075"/>
          </a:xfrm>
          <a:prstGeom prst="rect">
            <a:avLst/>
          </a:prstGeom>
        </p:spPr>
        <p:txBody>
          <a:bodyPr anchor="t" rtlCol="false" tIns="0" lIns="0" bIns="0" rIns="0">
            <a:spAutoFit/>
          </a:bodyPr>
          <a:lstStyle/>
          <a:p>
            <a:pPr algn="r">
              <a:lnSpc>
                <a:spcPts val="3899"/>
              </a:lnSpc>
            </a:pPr>
            <a:r>
              <a:rPr lang="en-US" sz="2499">
                <a:solidFill>
                  <a:srgbClr val="FFFFFF"/>
                </a:solidFill>
                <a:latin typeface="Bricolage Grotesque"/>
                <a:ea typeface="Bricolage Grotesque"/>
                <a:cs typeface="Bricolage Grotesque"/>
                <a:sym typeface="Bricolage Grotesque"/>
              </a:rPr>
              <a:t>AquaTracking, un sistema integral de análisis de datos diseñado para cerrar la brecha de información que causa el consumo ineficiente de agua, teniendo como cliente objetivo los hogares. </a:t>
            </a:r>
          </a:p>
          <a:p>
            <a:pPr algn="r">
              <a:lnSpc>
                <a:spcPts val="3899"/>
              </a:lnSpc>
            </a:pPr>
          </a:p>
        </p:txBody>
      </p:sp>
      <p:sp>
        <p:nvSpPr>
          <p:cNvPr name="TextBox 12" id="12"/>
          <p:cNvSpPr txBox="true"/>
          <p:nvPr/>
        </p:nvSpPr>
        <p:spPr>
          <a:xfrm rot="0">
            <a:off x="9990884" y="3457855"/>
            <a:ext cx="5993244" cy="512840"/>
          </a:xfrm>
          <a:prstGeom prst="rect">
            <a:avLst/>
          </a:prstGeom>
        </p:spPr>
        <p:txBody>
          <a:bodyPr anchor="t" rtlCol="false" tIns="0" lIns="0" bIns="0" rIns="0">
            <a:spAutoFit/>
          </a:bodyPr>
          <a:lstStyle/>
          <a:p>
            <a:pPr algn="r">
              <a:lnSpc>
                <a:spcPts val="4005"/>
              </a:lnSpc>
            </a:pPr>
            <a:r>
              <a:rPr lang="en-US" b="true" sz="3452">
                <a:solidFill>
                  <a:srgbClr val="FFFFFF"/>
                </a:solidFill>
                <a:latin typeface="Canva Sans Bold"/>
                <a:ea typeface="Canva Sans Bold"/>
                <a:cs typeface="Canva Sans Bold"/>
                <a:sym typeface="Canva Sans Bold"/>
              </a:rPr>
              <a:t>PROPUESTA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429685" y="-2993132"/>
            <a:ext cx="4432851" cy="5709761"/>
          </a:xfrm>
          <a:custGeom>
            <a:avLst/>
            <a:gdLst/>
            <a:ahLst/>
            <a:cxnLst/>
            <a:rect r="r" b="b" t="t" l="l"/>
            <a:pathLst>
              <a:path h="5709761" w="4432851">
                <a:moveTo>
                  <a:pt x="0" y="0"/>
                </a:moveTo>
                <a:lnTo>
                  <a:pt x="4432850" y="0"/>
                </a:lnTo>
                <a:lnTo>
                  <a:pt x="4432850" y="5709760"/>
                </a:lnTo>
                <a:lnTo>
                  <a:pt x="0" y="57097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407130" y="7508584"/>
            <a:ext cx="3194581" cy="4114800"/>
          </a:xfrm>
          <a:custGeom>
            <a:avLst/>
            <a:gdLst/>
            <a:ahLst/>
            <a:cxnLst/>
            <a:rect r="r" b="b" t="t" l="l"/>
            <a:pathLst>
              <a:path h="4114800" w="3194581">
                <a:moveTo>
                  <a:pt x="0" y="0"/>
                </a:moveTo>
                <a:lnTo>
                  <a:pt x="3194581" y="0"/>
                </a:lnTo>
                <a:lnTo>
                  <a:pt x="319458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8184679">
            <a:off x="-3012117" y="315210"/>
            <a:ext cx="4432851" cy="5709761"/>
          </a:xfrm>
          <a:custGeom>
            <a:avLst/>
            <a:gdLst/>
            <a:ahLst/>
            <a:cxnLst/>
            <a:rect r="r" b="b" t="t" l="l"/>
            <a:pathLst>
              <a:path h="5709761" w="4432851">
                <a:moveTo>
                  <a:pt x="0" y="0"/>
                </a:moveTo>
                <a:lnTo>
                  <a:pt x="4432851" y="0"/>
                </a:lnTo>
                <a:lnTo>
                  <a:pt x="4432851" y="5709760"/>
                </a:lnTo>
                <a:lnTo>
                  <a:pt x="0" y="57097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721692" y="5313873"/>
            <a:ext cx="3842712" cy="4707763"/>
          </a:xfrm>
          <a:custGeom>
            <a:avLst/>
            <a:gdLst/>
            <a:ahLst/>
            <a:cxnLst/>
            <a:rect r="r" b="b" t="t" l="l"/>
            <a:pathLst>
              <a:path h="4707763" w="3842712">
                <a:moveTo>
                  <a:pt x="0" y="0"/>
                </a:moveTo>
                <a:lnTo>
                  <a:pt x="3842712" y="0"/>
                </a:lnTo>
                <a:lnTo>
                  <a:pt x="3842712" y="4707763"/>
                </a:lnTo>
                <a:lnTo>
                  <a:pt x="0" y="47077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1019175"/>
            <a:ext cx="6190749" cy="1228725"/>
          </a:xfrm>
          <a:prstGeom prst="rect">
            <a:avLst/>
          </a:prstGeom>
        </p:spPr>
        <p:txBody>
          <a:bodyPr anchor="t" rtlCol="false" tIns="0" lIns="0" bIns="0" rIns="0">
            <a:spAutoFit/>
          </a:bodyPr>
          <a:lstStyle/>
          <a:p>
            <a:pPr algn="ctr" marL="0" indent="0" lvl="0">
              <a:lnSpc>
                <a:spcPts val="9600"/>
              </a:lnSpc>
              <a:spcBef>
                <a:spcPct val="0"/>
              </a:spcBef>
            </a:pPr>
            <a:r>
              <a:rPr lang="en-US" b="true" sz="8000">
                <a:solidFill>
                  <a:srgbClr val="FFFFFF"/>
                </a:solidFill>
                <a:latin typeface="Bricolage Grotesque Bold"/>
                <a:ea typeface="Bricolage Grotesque Bold"/>
                <a:cs typeface="Bricolage Grotesque Bold"/>
                <a:sym typeface="Bricolage Grotesque Bold"/>
              </a:rPr>
              <a:t>OBJETIVOS</a:t>
            </a:r>
          </a:p>
        </p:txBody>
      </p:sp>
      <p:sp>
        <p:nvSpPr>
          <p:cNvPr name="TextBox 7" id="7"/>
          <p:cNvSpPr txBox="true"/>
          <p:nvPr/>
        </p:nvSpPr>
        <p:spPr>
          <a:xfrm rot="0">
            <a:off x="1765105" y="3738133"/>
            <a:ext cx="12146411" cy="1461511"/>
          </a:xfrm>
          <a:prstGeom prst="rect">
            <a:avLst/>
          </a:prstGeom>
        </p:spPr>
        <p:txBody>
          <a:bodyPr anchor="t" rtlCol="false" tIns="0" lIns="0" bIns="0" rIns="0">
            <a:spAutoFit/>
          </a:bodyPr>
          <a:lstStyle/>
          <a:p>
            <a:pPr algn="l">
              <a:lnSpc>
                <a:spcPts val="3895"/>
              </a:lnSpc>
            </a:pPr>
            <a:r>
              <a:rPr lang="en-US" sz="2597">
                <a:solidFill>
                  <a:srgbClr val="FFFFFF"/>
                </a:solidFill>
                <a:latin typeface="Nourd"/>
                <a:ea typeface="Nourd"/>
                <a:cs typeface="Nourd"/>
                <a:sym typeface="Nourd"/>
              </a:rPr>
              <a:t>Desarrollar un sistema web integrado con sensores IoT para monitorear en tiempo real el consumo de agua residencial y proporcionar información analítica que permita optimizar su uso</a:t>
            </a:r>
          </a:p>
        </p:txBody>
      </p:sp>
      <p:sp>
        <p:nvSpPr>
          <p:cNvPr name="TextBox 8" id="8"/>
          <p:cNvSpPr txBox="true"/>
          <p:nvPr/>
        </p:nvSpPr>
        <p:spPr>
          <a:xfrm rot="0">
            <a:off x="1462063" y="2779542"/>
            <a:ext cx="3632810" cy="885825"/>
          </a:xfrm>
          <a:prstGeom prst="rect">
            <a:avLst/>
          </a:prstGeom>
        </p:spPr>
        <p:txBody>
          <a:bodyPr anchor="t" rtlCol="false" tIns="0" lIns="0" bIns="0" rIns="0">
            <a:spAutoFit/>
          </a:bodyPr>
          <a:lstStyle/>
          <a:p>
            <a:pPr algn="ctr" marL="0" indent="0" lvl="0">
              <a:lnSpc>
                <a:spcPts val="6992"/>
              </a:lnSpc>
              <a:spcBef>
                <a:spcPct val="0"/>
              </a:spcBef>
            </a:pPr>
            <a:r>
              <a:rPr lang="en-US" b="true" sz="5826">
                <a:solidFill>
                  <a:srgbClr val="FFFFFF"/>
                </a:solidFill>
                <a:latin typeface="Bricolage Grotesque Bold"/>
                <a:ea typeface="Bricolage Grotesque Bold"/>
                <a:cs typeface="Bricolage Grotesque Bold"/>
                <a:sym typeface="Bricolage Grotesque Bold"/>
              </a:rPr>
              <a:t>General</a:t>
            </a:r>
          </a:p>
        </p:txBody>
      </p:sp>
      <p:sp>
        <p:nvSpPr>
          <p:cNvPr name="TextBox 9" id="9"/>
          <p:cNvSpPr txBox="true"/>
          <p:nvPr/>
        </p:nvSpPr>
        <p:spPr>
          <a:xfrm rot="0">
            <a:off x="1765105" y="6034327"/>
            <a:ext cx="4509081" cy="885825"/>
          </a:xfrm>
          <a:prstGeom prst="rect">
            <a:avLst/>
          </a:prstGeom>
        </p:spPr>
        <p:txBody>
          <a:bodyPr anchor="t" rtlCol="false" tIns="0" lIns="0" bIns="0" rIns="0">
            <a:spAutoFit/>
          </a:bodyPr>
          <a:lstStyle/>
          <a:p>
            <a:pPr algn="ctr" marL="0" indent="0" lvl="0">
              <a:lnSpc>
                <a:spcPts val="6992"/>
              </a:lnSpc>
              <a:spcBef>
                <a:spcPct val="0"/>
              </a:spcBef>
            </a:pPr>
            <a:r>
              <a:rPr lang="en-US" b="true" sz="5826">
                <a:solidFill>
                  <a:srgbClr val="FFFFFF"/>
                </a:solidFill>
                <a:latin typeface="Bricolage Grotesque Bold"/>
                <a:ea typeface="Bricolage Grotesque Bold"/>
                <a:cs typeface="Bricolage Grotesque Bold"/>
                <a:sym typeface="Bricolage Grotesque Bold"/>
              </a:rPr>
              <a:t>Especificos</a:t>
            </a:r>
          </a:p>
        </p:txBody>
      </p:sp>
      <p:sp>
        <p:nvSpPr>
          <p:cNvPr name="TextBox 10" id="10"/>
          <p:cNvSpPr txBox="true"/>
          <p:nvPr/>
        </p:nvSpPr>
        <p:spPr>
          <a:xfrm rot="0">
            <a:off x="1765105" y="7072376"/>
            <a:ext cx="12624156" cy="2949260"/>
          </a:xfrm>
          <a:prstGeom prst="rect">
            <a:avLst/>
          </a:prstGeom>
        </p:spPr>
        <p:txBody>
          <a:bodyPr anchor="t" rtlCol="false" tIns="0" lIns="0" bIns="0" rIns="0">
            <a:spAutoFit/>
          </a:bodyPr>
          <a:lstStyle/>
          <a:p>
            <a:pPr algn="l">
              <a:lnSpc>
                <a:spcPts val="3337"/>
              </a:lnSpc>
            </a:pPr>
            <a:r>
              <a:rPr lang="en-US" sz="2225">
                <a:solidFill>
                  <a:srgbClr val="FFFFFF"/>
                </a:solidFill>
                <a:latin typeface="Nourd"/>
                <a:ea typeface="Nourd"/>
                <a:cs typeface="Nourd"/>
                <a:sym typeface="Nourd"/>
              </a:rPr>
              <a:t>-Recolectar y almacenar los datos de consumo en MongoDB.</a:t>
            </a:r>
          </a:p>
          <a:p>
            <a:pPr algn="l">
              <a:lnSpc>
                <a:spcPts val="3337"/>
              </a:lnSpc>
            </a:pPr>
            <a:r>
              <a:rPr lang="en-US" sz="2225">
                <a:solidFill>
                  <a:srgbClr val="FFFFFF"/>
                </a:solidFill>
                <a:latin typeface="Nourd"/>
                <a:ea typeface="Nourd"/>
                <a:cs typeface="Nourd"/>
                <a:sym typeface="Nourd"/>
              </a:rPr>
              <a:t>-Analizar los datos para identificar patrones de consumo.</a:t>
            </a:r>
          </a:p>
          <a:p>
            <a:pPr algn="l">
              <a:lnSpc>
                <a:spcPts val="3337"/>
              </a:lnSpc>
            </a:pPr>
            <a:r>
              <a:rPr lang="en-US" sz="2225">
                <a:solidFill>
                  <a:srgbClr val="FFFFFF"/>
                </a:solidFill>
                <a:latin typeface="Nourd"/>
                <a:ea typeface="Nourd"/>
                <a:cs typeface="Nourd"/>
                <a:sym typeface="Nourd"/>
              </a:rPr>
              <a:t>-Diseñar una plataforma web interactiva para los usuarios.</a:t>
            </a:r>
          </a:p>
          <a:p>
            <a:pPr algn="l">
              <a:lnSpc>
                <a:spcPts val="3337"/>
              </a:lnSpc>
            </a:pPr>
            <a:r>
              <a:rPr lang="en-US" sz="2225">
                <a:solidFill>
                  <a:srgbClr val="FFFFFF"/>
                </a:solidFill>
                <a:latin typeface="Nourd"/>
                <a:ea typeface="Nourd"/>
                <a:cs typeface="Nourd"/>
                <a:sym typeface="Nourd"/>
              </a:rPr>
              <a:t>-Implementar visualizaciones claras (gráficos y tablas).</a:t>
            </a:r>
          </a:p>
          <a:p>
            <a:pPr algn="l">
              <a:lnSpc>
                <a:spcPts val="3337"/>
              </a:lnSpc>
            </a:pPr>
            <a:r>
              <a:rPr lang="en-US" sz="2225">
                <a:solidFill>
                  <a:srgbClr val="FFFFFF"/>
                </a:solidFill>
                <a:latin typeface="Nourd"/>
                <a:ea typeface="Nourd"/>
                <a:cs typeface="Nourd"/>
                <a:sym typeface="Nourd"/>
              </a:rPr>
              <a:t>-Garantizar la calidad, usabilidad y seguridad (Normas ISO)</a:t>
            </a:r>
          </a:p>
          <a:p>
            <a:pPr algn="l">
              <a:lnSpc>
                <a:spcPts val="3337"/>
              </a:lnSpc>
            </a:pPr>
          </a:p>
          <a:p>
            <a:pPr algn="l" marL="0" indent="0" lvl="1">
              <a:lnSpc>
                <a:spcPts val="3337"/>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0">
            <a:off x="13081701" y="5928413"/>
            <a:ext cx="7386486" cy="5560009"/>
          </a:xfrm>
          <a:custGeom>
            <a:avLst/>
            <a:gdLst/>
            <a:ahLst/>
            <a:cxnLst/>
            <a:rect r="r" b="b" t="t" l="l"/>
            <a:pathLst>
              <a:path h="5560009" w="7386486">
                <a:moveTo>
                  <a:pt x="0" y="0"/>
                </a:moveTo>
                <a:lnTo>
                  <a:pt x="7386485" y="0"/>
                </a:lnTo>
                <a:lnTo>
                  <a:pt x="7386485" y="5560009"/>
                </a:lnTo>
                <a:lnTo>
                  <a:pt x="0" y="5560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97925" y="7114350"/>
            <a:ext cx="8595850" cy="6345300"/>
          </a:xfrm>
          <a:custGeom>
            <a:avLst/>
            <a:gdLst/>
            <a:ahLst/>
            <a:cxnLst/>
            <a:rect r="r" b="b" t="t" l="l"/>
            <a:pathLst>
              <a:path h="6345300" w="8595850">
                <a:moveTo>
                  <a:pt x="0" y="0"/>
                </a:moveTo>
                <a:lnTo>
                  <a:pt x="8595850" y="0"/>
                </a:lnTo>
                <a:lnTo>
                  <a:pt x="8595850" y="6345300"/>
                </a:lnTo>
                <a:lnTo>
                  <a:pt x="0" y="6345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41818" y="-2825821"/>
            <a:ext cx="2887841" cy="4114800"/>
          </a:xfrm>
          <a:custGeom>
            <a:avLst/>
            <a:gdLst/>
            <a:ahLst/>
            <a:cxnLst/>
            <a:rect r="r" b="b" t="t" l="l"/>
            <a:pathLst>
              <a:path h="4114800" w="2887841">
                <a:moveTo>
                  <a:pt x="0" y="0"/>
                </a:moveTo>
                <a:lnTo>
                  <a:pt x="2887841" y="0"/>
                </a:lnTo>
                <a:lnTo>
                  <a:pt x="288784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615702" y="2617103"/>
            <a:ext cx="7052231" cy="7052231"/>
          </a:xfrm>
          <a:custGeom>
            <a:avLst/>
            <a:gdLst/>
            <a:ahLst/>
            <a:cxnLst/>
            <a:rect r="r" b="b" t="t" l="l"/>
            <a:pathLst>
              <a:path h="7052231" w="7052231">
                <a:moveTo>
                  <a:pt x="0" y="0"/>
                </a:moveTo>
                <a:lnTo>
                  <a:pt x="7052231" y="0"/>
                </a:lnTo>
                <a:lnTo>
                  <a:pt x="7052231" y="7052231"/>
                </a:lnTo>
                <a:lnTo>
                  <a:pt x="0" y="7052231"/>
                </a:lnTo>
                <a:lnTo>
                  <a:pt x="0" y="0"/>
                </a:lnTo>
                <a:close/>
              </a:path>
            </a:pathLst>
          </a:custGeom>
          <a:blipFill>
            <a:blip r:embed="rId8"/>
            <a:stretch>
              <a:fillRect l="0" t="0" r="0" b="0"/>
            </a:stretch>
          </a:blipFill>
        </p:spPr>
      </p:sp>
      <p:grpSp>
        <p:nvGrpSpPr>
          <p:cNvPr name="Group 6" id="6"/>
          <p:cNvGrpSpPr>
            <a:grpSpLocks noChangeAspect="true"/>
          </p:cNvGrpSpPr>
          <p:nvPr/>
        </p:nvGrpSpPr>
        <p:grpSpPr>
          <a:xfrm rot="0">
            <a:off x="13132353" y="3084563"/>
            <a:ext cx="5923036" cy="6117311"/>
            <a:chOff x="0" y="0"/>
            <a:chExt cx="6350000" cy="6558280"/>
          </a:xfrm>
        </p:grpSpPr>
        <p:sp>
          <p:nvSpPr>
            <p:cNvPr name="Freeform 7" id="7"/>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9"/>
              <a:stretch>
                <a:fillRect l="-27449" t="0" r="-27449" b="0"/>
              </a:stretch>
            </a:blipFill>
          </p:spPr>
        </p:sp>
        <p:sp>
          <p:nvSpPr>
            <p:cNvPr name="Freeform 8" id="8"/>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Freeform 9" id="9"/>
          <p:cNvSpPr/>
          <p:nvPr/>
        </p:nvSpPr>
        <p:spPr>
          <a:xfrm flipH="false" flipV="false" rot="0">
            <a:off x="9209165" y="-405099"/>
            <a:ext cx="3923188" cy="3923188"/>
          </a:xfrm>
          <a:custGeom>
            <a:avLst/>
            <a:gdLst/>
            <a:ahLst/>
            <a:cxnLst/>
            <a:rect r="r" b="b" t="t" l="l"/>
            <a:pathLst>
              <a:path h="3923188" w="3923188">
                <a:moveTo>
                  <a:pt x="0" y="0"/>
                </a:moveTo>
                <a:lnTo>
                  <a:pt x="3923188" y="0"/>
                </a:lnTo>
                <a:lnTo>
                  <a:pt x="3923188" y="3923188"/>
                </a:lnTo>
                <a:lnTo>
                  <a:pt x="0" y="3923188"/>
                </a:lnTo>
                <a:lnTo>
                  <a:pt x="0" y="0"/>
                </a:lnTo>
                <a:close/>
              </a:path>
            </a:pathLst>
          </a:custGeom>
          <a:blipFill>
            <a:blip r:embed="rId8"/>
            <a:stretch>
              <a:fillRect l="0" t="0" r="0" b="0"/>
            </a:stretch>
          </a:blipFill>
        </p:spPr>
      </p:sp>
      <p:grpSp>
        <p:nvGrpSpPr>
          <p:cNvPr name="Group 10" id="10"/>
          <p:cNvGrpSpPr>
            <a:grpSpLocks noChangeAspect="true"/>
          </p:cNvGrpSpPr>
          <p:nvPr/>
        </p:nvGrpSpPr>
        <p:grpSpPr>
          <a:xfrm rot="0">
            <a:off x="9496580" y="-145049"/>
            <a:ext cx="3295011" cy="3403088"/>
            <a:chOff x="0" y="0"/>
            <a:chExt cx="6350000" cy="6558280"/>
          </a:xfrm>
        </p:grpSpPr>
        <p:sp>
          <p:nvSpPr>
            <p:cNvPr name="Freeform 11" id="11"/>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10"/>
              <a:stretch>
                <a:fillRect l="-42285" t="0" r="-42285" b="0"/>
              </a:stretch>
            </a:blipFill>
          </p:spPr>
        </p:sp>
        <p:sp>
          <p:nvSpPr>
            <p:cNvPr name="Freeform 12" id="12"/>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Freeform 13" id="13"/>
          <p:cNvSpPr/>
          <p:nvPr/>
        </p:nvSpPr>
        <p:spPr>
          <a:xfrm flipH="false" flipV="false" rot="0">
            <a:off x="7838762" y="7123875"/>
            <a:ext cx="3923188" cy="3923188"/>
          </a:xfrm>
          <a:custGeom>
            <a:avLst/>
            <a:gdLst/>
            <a:ahLst/>
            <a:cxnLst/>
            <a:rect r="r" b="b" t="t" l="l"/>
            <a:pathLst>
              <a:path h="3923188" w="3923188">
                <a:moveTo>
                  <a:pt x="0" y="0"/>
                </a:moveTo>
                <a:lnTo>
                  <a:pt x="3923188" y="0"/>
                </a:lnTo>
                <a:lnTo>
                  <a:pt x="3923188" y="3923187"/>
                </a:lnTo>
                <a:lnTo>
                  <a:pt x="0" y="3923187"/>
                </a:lnTo>
                <a:lnTo>
                  <a:pt x="0" y="0"/>
                </a:lnTo>
                <a:close/>
              </a:path>
            </a:pathLst>
          </a:custGeom>
          <a:blipFill>
            <a:blip r:embed="rId8"/>
            <a:stretch>
              <a:fillRect l="0" t="0" r="0" b="0"/>
            </a:stretch>
          </a:blipFill>
        </p:spPr>
      </p:sp>
      <p:grpSp>
        <p:nvGrpSpPr>
          <p:cNvPr name="Group 14" id="14"/>
          <p:cNvGrpSpPr>
            <a:grpSpLocks noChangeAspect="true"/>
          </p:cNvGrpSpPr>
          <p:nvPr/>
        </p:nvGrpSpPr>
        <p:grpSpPr>
          <a:xfrm rot="0">
            <a:off x="8126177" y="7383925"/>
            <a:ext cx="3295011" cy="3403088"/>
            <a:chOff x="0" y="0"/>
            <a:chExt cx="6350000" cy="6558280"/>
          </a:xfrm>
        </p:grpSpPr>
        <p:sp>
          <p:nvSpPr>
            <p:cNvPr name="Freeform 15" id="15"/>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11"/>
              <a:stretch>
                <a:fillRect l="-38530" t="0" r="-38530" b="0"/>
              </a:stretch>
            </a:blipFill>
          </p:spPr>
        </p:sp>
        <p:sp>
          <p:nvSpPr>
            <p:cNvPr name="Freeform 16" id="16"/>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TextBox 17" id="17"/>
          <p:cNvSpPr txBox="true"/>
          <p:nvPr/>
        </p:nvSpPr>
        <p:spPr>
          <a:xfrm rot="0">
            <a:off x="2062642" y="2009447"/>
            <a:ext cx="7146523" cy="981075"/>
          </a:xfrm>
          <a:prstGeom prst="rect">
            <a:avLst/>
          </a:prstGeom>
        </p:spPr>
        <p:txBody>
          <a:bodyPr anchor="t" rtlCol="false" tIns="0" lIns="0" bIns="0" rIns="0">
            <a:spAutoFit/>
          </a:bodyPr>
          <a:lstStyle/>
          <a:p>
            <a:pPr algn="l" marL="0" indent="0" lvl="0">
              <a:lnSpc>
                <a:spcPts val="7799"/>
              </a:lnSpc>
              <a:spcBef>
                <a:spcPct val="0"/>
              </a:spcBef>
            </a:pPr>
            <a:r>
              <a:rPr lang="en-US" b="true" sz="6499">
                <a:solidFill>
                  <a:srgbClr val="FFFFFF"/>
                </a:solidFill>
                <a:latin typeface="Bricolage Grotesque Bold"/>
                <a:ea typeface="Bricolage Grotesque Bold"/>
                <a:cs typeface="Bricolage Grotesque Bold"/>
                <a:sym typeface="Bricolage Grotesque Bold"/>
              </a:rPr>
              <a:t>ALCANCES</a:t>
            </a:r>
          </a:p>
        </p:txBody>
      </p:sp>
      <p:sp>
        <p:nvSpPr>
          <p:cNvPr name="TextBox 18" id="18"/>
          <p:cNvSpPr txBox="true"/>
          <p:nvPr/>
        </p:nvSpPr>
        <p:spPr>
          <a:xfrm rot="0">
            <a:off x="1411322" y="3403789"/>
            <a:ext cx="5532090" cy="6265545"/>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FFFFFF"/>
                </a:solidFill>
                <a:latin typeface="Nourd"/>
                <a:ea typeface="Nourd"/>
                <a:cs typeface="Nourd"/>
                <a:sym typeface="Nourd"/>
              </a:rPr>
              <a:t>Se implementó un sistema web para monitorear y analizar el consumo de agua en tiempo real.</a:t>
            </a:r>
          </a:p>
          <a:p>
            <a:pPr algn="l" marL="604519" indent="-302260" lvl="1">
              <a:lnSpc>
                <a:spcPts val="4199"/>
              </a:lnSpc>
              <a:buFont typeface="Arial"/>
              <a:buChar char="•"/>
            </a:pPr>
            <a:r>
              <a:rPr lang="en-US" sz="2799">
                <a:solidFill>
                  <a:srgbClr val="FFFFFF"/>
                </a:solidFill>
                <a:latin typeface="Nourd"/>
                <a:ea typeface="Nourd"/>
                <a:cs typeface="Nourd"/>
                <a:sym typeface="Nourd"/>
              </a:rPr>
              <a:t>El sistema identifica patrones de consumo y los presenta en gráficos y tablas.</a:t>
            </a:r>
          </a:p>
          <a:p>
            <a:pPr algn="l" marL="604519" indent="-302260" lvl="1">
              <a:lnSpc>
                <a:spcPts val="4199"/>
              </a:lnSpc>
              <a:buFont typeface="Arial"/>
              <a:buChar char="•"/>
            </a:pPr>
            <a:r>
              <a:rPr lang="en-US" sz="2799">
                <a:solidFill>
                  <a:srgbClr val="FFFFFF"/>
                </a:solidFill>
                <a:latin typeface="Nourd"/>
                <a:ea typeface="Nourd"/>
                <a:cs typeface="Nourd"/>
                <a:sym typeface="Nourd"/>
              </a:rPr>
              <a:t>El proyecto se adhirió a estándares de calidad, usabilidad y seguridad (ISO).</a:t>
            </a:r>
          </a:p>
          <a:p>
            <a:pPr algn="l">
              <a:lnSpc>
                <a:spcPts val="4199"/>
              </a:lnSpc>
            </a:pPr>
          </a:p>
          <a:p>
            <a:pPr algn="l" marL="0" indent="0" lvl="0">
              <a:lnSpc>
                <a:spcPts val="419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0">
            <a:off x="13081701" y="5928413"/>
            <a:ext cx="7386486" cy="5560009"/>
          </a:xfrm>
          <a:custGeom>
            <a:avLst/>
            <a:gdLst/>
            <a:ahLst/>
            <a:cxnLst/>
            <a:rect r="r" b="b" t="t" l="l"/>
            <a:pathLst>
              <a:path h="5560009" w="7386486">
                <a:moveTo>
                  <a:pt x="0" y="0"/>
                </a:moveTo>
                <a:lnTo>
                  <a:pt x="7386485" y="0"/>
                </a:lnTo>
                <a:lnTo>
                  <a:pt x="7386485" y="5560009"/>
                </a:lnTo>
                <a:lnTo>
                  <a:pt x="0" y="5560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97925" y="7114350"/>
            <a:ext cx="8595850" cy="6345300"/>
          </a:xfrm>
          <a:custGeom>
            <a:avLst/>
            <a:gdLst/>
            <a:ahLst/>
            <a:cxnLst/>
            <a:rect r="r" b="b" t="t" l="l"/>
            <a:pathLst>
              <a:path h="6345300" w="8595850">
                <a:moveTo>
                  <a:pt x="0" y="0"/>
                </a:moveTo>
                <a:lnTo>
                  <a:pt x="8595850" y="0"/>
                </a:lnTo>
                <a:lnTo>
                  <a:pt x="8595850" y="6345300"/>
                </a:lnTo>
                <a:lnTo>
                  <a:pt x="0" y="6345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41818" y="-2825821"/>
            <a:ext cx="2887841" cy="4114800"/>
          </a:xfrm>
          <a:custGeom>
            <a:avLst/>
            <a:gdLst/>
            <a:ahLst/>
            <a:cxnLst/>
            <a:rect r="r" b="b" t="t" l="l"/>
            <a:pathLst>
              <a:path h="4114800" w="2887841">
                <a:moveTo>
                  <a:pt x="0" y="0"/>
                </a:moveTo>
                <a:lnTo>
                  <a:pt x="2887841" y="0"/>
                </a:lnTo>
                <a:lnTo>
                  <a:pt x="288784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324893" y="7114350"/>
            <a:ext cx="3923188" cy="3923188"/>
          </a:xfrm>
          <a:custGeom>
            <a:avLst/>
            <a:gdLst/>
            <a:ahLst/>
            <a:cxnLst/>
            <a:rect r="r" b="b" t="t" l="l"/>
            <a:pathLst>
              <a:path h="3923188" w="3923188">
                <a:moveTo>
                  <a:pt x="0" y="0"/>
                </a:moveTo>
                <a:lnTo>
                  <a:pt x="3923187" y="0"/>
                </a:lnTo>
                <a:lnTo>
                  <a:pt x="3923187" y="3923187"/>
                </a:lnTo>
                <a:lnTo>
                  <a:pt x="0" y="3923187"/>
                </a:lnTo>
                <a:lnTo>
                  <a:pt x="0" y="0"/>
                </a:lnTo>
                <a:close/>
              </a:path>
            </a:pathLst>
          </a:custGeom>
          <a:blipFill>
            <a:blip r:embed="rId8"/>
            <a:stretch>
              <a:fillRect l="0" t="0" r="0" b="0"/>
            </a:stretch>
          </a:blipFill>
        </p:spPr>
      </p:sp>
      <p:grpSp>
        <p:nvGrpSpPr>
          <p:cNvPr name="Group 6" id="6"/>
          <p:cNvGrpSpPr>
            <a:grpSpLocks noChangeAspect="true"/>
          </p:cNvGrpSpPr>
          <p:nvPr/>
        </p:nvGrpSpPr>
        <p:grpSpPr>
          <a:xfrm rot="0">
            <a:off x="4612308" y="7374400"/>
            <a:ext cx="3295011" cy="3403088"/>
            <a:chOff x="0" y="0"/>
            <a:chExt cx="6350000" cy="6558280"/>
          </a:xfrm>
        </p:grpSpPr>
        <p:sp>
          <p:nvSpPr>
            <p:cNvPr name="Freeform 7" id="7"/>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9"/>
              <a:stretch>
                <a:fillRect l="-18791" t="0" r="-18791" b="0"/>
              </a:stretch>
            </a:blipFill>
          </p:spPr>
        </p:sp>
        <p:sp>
          <p:nvSpPr>
            <p:cNvPr name="Freeform 8" id="8"/>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Freeform 9" id="9"/>
          <p:cNvSpPr/>
          <p:nvPr/>
        </p:nvSpPr>
        <p:spPr>
          <a:xfrm flipH="false" flipV="false" rot="0">
            <a:off x="-2114794" y="2617103"/>
            <a:ext cx="7052231" cy="7052231"/>
          </a:xfrm>
          <a:custGeom>
            <a:avLst/>
            <a:gdLst/>
            <a:ahLst/>
            <a:cxnLst/>
            <a:rect r="r" b="b" t="t" l="l"/>
            <a:pathLst>
              <a:path h="7052231" w="7052231">
                <a:moveTo>
                  <a:pt x="0" y="0"/>
                </a:moveTo>
                <a:lnTo>
                  <a:pt x="7052232" y="0"/>
                </a:lnTo>
                <a:lnTo>
                  <a:pt x="7052232" y="7052231"/>
                </a:lnTo>
                <a:lnTo>
                  <a:pt x="0" y="7052231"/>
                </a:lnTo>
                <a:lnTo>
                  <a:pt x="0" y="0"/>
                </a:lnTo>
                <a:close/>
              </a:path>
            </a:pathLst>
          </a:custGeom>
          <a:blipFill>
            <a:blip r:embed="rId8"/>
            <a:stretch>
              <a:fillRect l="0" t="0" r="0" b="0"/>
            </a:stretch>
          </a:blipFill>
        </p:spPr>
      </p:sp>
      <p:grpSp>
        <p:nvGrpSpPr>
          <p:cNvPr name="Group 10" id="10"/>
          <p:cNvGrpSpPr>
            <a:grpSpLocks noChangeAspect="true"/>
          </p:cNvGrpSpPr>
          <p:nvPr/>
        </p:nvGrpSpPr>
        <p:grpSpPr>
          <a:xfrm rot="0">
            <a:off x="-1598143" y="3084563"/>
            <a:ext cx="5923036" cy="6117311"/>
            <a:chOff x="0" y="0"/>
            <a:chExt cx="6350000" cy="6558280"/>
          </a:xfrm>
        </p:grpSpPr>
        <p:sp>
          <p:nvSpPr>
            <p:cNvPr name="Freeform 11" id="11"/>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10"/>
              <a:stretch>
                <a:fillRect l="-24407" t="0" r="-24407" b="0"/>
              </a:stretch>
            </a:blipFill>
          </p:spPr>
        </p:sp>
        <p:sp>
          <p:nvSpPr>
            <p:cNvPr name="Freeform 12" id="12"/>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Freeform 13" id="13"/>
          <p:cNvSpPr/>
          <p:nvPr/>
        </p:nvSpPr>
        <p:spPr>
          <a:xfrm flipH="false" flipV="false" rot="0">
            <a:off x="5563513" y="-672615"/>
            <a:ext cx="3923188" cy="3923188"/>
          </a:xfrm>
          <a:custGeom>
            <a:avLst/>
            <a:gdLst/>
            <a:ahLst/>
            <a:cxnLst/>
            <a:rect r="r" b="b" t="t" l="l"/>
            <a:pathLst>
              <a:path h="3923188" w="3923188">
                <a:moveTo>
                  <a:pt x="0" y="0"/>
                </a:moveTo>
                <a:lnTo>
                  <a:pt x="3923188" y="0"/>
                </a:lnTo>
                <a:lnTo>
                  <a:pt x="3923188" y="3923187"/>
                </a:lnTo>
                <a:lnTo>
                  <a:pt x="0" y="3923187"/>
                </a:lnTo>
                <a:lnTo>
                  <a:pt x="0" y="0"/>
                </a:lnTo>
                <a:close/>
              </a:path>
            </a:pathLst>
          </a:custGeom>
          <a:blipFill>
            <a:blip r:embed="rId8"/>
            <a:stretch>
              <a:fillRect l="0" t="0" r="0" b="0"/>
            </a:stretch>
          </a:blipFill>
        </p:spPr>
      </p:sp>
      <p:grpSp>
        <p:nvGrpSpPr>
          <p:cNvPr name="Group 14" id="14"/>
          <p:cNvGrpSpPr>
            <a:grpSpLocks noChangeAspect="true"/>
          </p:cNvGrpSpPr>
          <p:nvPr/>
        </p:nvGrpSpPr>
        <p:grpSpPr>
          <a:xfrm rot="0">
            <a:off x="5850929" y="-412565"/>
            <a:ext cx="3295011" cy="3403088"/>
            <a:chOff x="0" y="0"/>
            <a:chExt cx="6350000" cy="6558280"/>
          </a:xfrm>
        </p:grpSpPr>
        <p:sp>
          <p:nvSpPr>
            <p:cNvPr name="Freeform 15" id="15"/>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11"/>
              <a:stretch>
                <a:fillRect l="-27449" t="0" r="-27449" b="0"/>
              </a:stretch>
            </a:blipFill>
          </p:spPr>
        </p:sp>
        <p:sp>
          <p:nvSpPr>
            <p:cNvPr name="Freeform 16" id="16"/>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Freeform 17" id="17"/>
          <p:cNvSpPr/>
          <p:nvPr/>
        </p:nvSpPr>
        <p:spPr>
          <a:xfrm flipH="false" flipV="false" rot="0">
            <a:off x="14241497" y="5419026"/>
            <a:ext cx="4046503" cy="4867974"/>
          </a:xfrm>
          <a:custGeom>
            <a:avLst/>
            <a:gdLst/>
            <a:ahLst/>
            <a:cxnLst/>
            <a:rect r="r" b="b" t="t" l="l"/>
            <a:pathLst>
              <a:path h="4867974" w="4046503">
                <a:moveTo>
                  <a:pt x="0" y="0"/>
                </a:moveTo>
                <a:lnTo>
                  <a:pt x="4046503" y="0"/>
                </a:lnTo>
                <a:lnTo>
                  <a:pt x="4046503" y="4867974"/>
                </a:lnTo>
                <a:lnTo>
                  <a:pt x="0" y="4867974"/>
                </a:lnTo>
                <a:lnTo>
                  <a:pt x="0" y="0"/>
                </a:lnTo>
                <a:close/>
              </a:path>
            </a:pathLst>
          </a:custGeom>
          <a:blipFill>
            <a:blip r:embed="rId12"/>
            <a:stretch>
              <a:fillRect l="0" t="0" r="0" b="0"/>
            </a:stretch>
          </a:blipFill>
        </p:spPr>
      </p:sp>
      <p:sp>
        <p:nvSpPr>
          <p:cNvPr name="TextBox 18" id="18"/>
          <p:cNvSpPr txBox="true"/>
          <p:nvPr/>
        </p:nvSpPr>
        <p:spPr>
          <a:xfrm rot="0">
            <a:off x="9628421" y="2103488"/>
            <a:ext cx="7146523" cy="981075"/>
          </a:xfrm>
          <a:prstGeom prst="rect">
            <a:avLst/>
          </a:prstGeom>
        </p:spPr>
        <p:txBody>
          <a:bodyPr anchor="t" rtlCol="false" tIns="0" lIns="0" bIns="0" rIns="0">
            <a:spAutoFit/>
          </a:bodyPr>
          <a:lstStyle/>
          <a:p>
            <a:pPr algn="l" marL="0" indent="0" lvl="0">
              <a:lnSpc>
                <a:spcPts val="7799"/>
              </a:lnSpc>
              <a:spcBef>
                <a:spcPct val="0"/>
              </a:spcBef>
            </a:pPr>
            <a:r>
              <a:rPr lang="en-US" b="true" sz="6499">
                <a:solidFill>
                  <a:srgbClr val="FFFFFF"/>
                </a:solidFill>
                <a:latin typeface="Bricolage Grotesque Bold"/>
                <a:ea typeface="Bricolage Grotesque Bold"/>
                <a:cs typeface="Bricolage Grotesque Bold"/>
                <a:sym typeface="Bricolage Grotesque Bold"/>
              </a:rPr>
              <a:t>LIMITACIONES</a:t>
            </a:r>
          </a:p>
        </p:txBody>
      </p:sp>
      <p:sp>
        <p:nvSpPr>
          <p:cNvPr name="TextBox 19" id="19"/>
          <p:cNvSpPr txBox="true"/>
          <p:nvPr/>
        </p:nvSpPr>
        <p:spPr>
          <a:xfrm rot="0">
            <a:off x="9145940" y="3334274"/>
            <a:ext cx="5532090" cy="5741670"/>
          </a:xfrm>
          <a:prstGeom prst="rect">
            <a:avLst/>
          </a:prstGeom>
        </p:spPr>
        <p:txBody>
          <a:bodyPr anchor="t" rtlCol="false" tIns="0" lIns="0" bIns="0" rIns="0">
            <a:spAutoFit/>
          </a:bodyPr>
          <a:lstStyle/>
          <a:p>
            <a:pPr algn="l" marL="604519" indent="-302260" lvl="1">
              <a:lnSpc>
                <a:spcPts val="4199"/>
              </a:lnSpc>
              <a:buFont typeface="Arial"/>
              <a:buChar char="•"/>
            </a:pPr>
            <a:r>
              <a:rPr lang="en-US" sz="2799">
                <a:solidFill>
                  <a:srgbClr val="FFFFFF"/>
                </a:solidFill>
                <a:latin typeface="Nourd"/>
                <a:ea typeface="Nourd"/>
                <a:cs typeface="Nourd"/>
                <a:sym typeface="Nourd"/>
              </a:rPr>
              <a:t>El sistema requiere instalación de hardware (sensores) y no es universal.</a:t>
            </a:r>
          </a:p>
          <a:p>
            <a:pPr algn="l" marL="604519" indent="-302260" lvl="1">
              <a:lnSpc>
                <a:spcPts val="4199"/>
              </a:lnSpc>
              <a:buFont typeface="Arial"/>
              <a:buChar char="•"/>
            </a:pPr>
            <a:r>
              <a:rPr lang="en-US" sz="2799">
                <a:solidFill>
                  <a:srgbClr val="FFFFFF"/>
                </a:solidFill>
                <a:latin typeface="Nourd"/>
                <a:ea typeface="Nourd"/>
                <a:cs typeface="Nourd"/>
                <a:sym typeface="Nourd"/>
              </a:rPr>
              <a:t>El modelo de predicción es básico y no detecta micro-fugas.</a:t>
            </a:r>
          </a:p>
          <a:p>
            <a:pPr algn="l" marL="604519" indent="-302260" lvl="1">
              <a:lnSpc>
                <a:spcPts val="4199"/>
              </a:lnSpc>
              <a:buFont typeface="Arial"/>
              <a:buChar char="•"/>
            </a:pPr>
            <a:r>
              <a:rPr lang="en-US" sz="2799">
                <a:solidFill>
                  <a:srgbClr val="FFFFFF"/>
                </a:solidFill>
                <a:latin typeface="Nourd"/>
                <a:ea typeface="Nourd"/>
                <a:cs typeface="Nourd"/>
                <a:sym typeface="Nourd"/>
              </a:rPr>
              <a:t>El ChatBot implementado es solo para soporte simple.</a:t>
            </a:r>
          </a:p>
          <a:p>
            <a:pPr algn="l" marL="604519" indent="-302260" lvl="1">
              <a:lnSpc>
                <a:spcPts val="4199"/>
              </a:lnSpc>
              <a:buFont typeface="Arial"/>
              <a:buChar char="•"/>
            </a:pPr>
            <a:r>
              <a:rPr lang="en-US" sz="2799">
                <a:solidFill>
                  <a:srgbClr val="FFFFFF"/>
                </a:solidFill>
                <a:latin typeface="Nourd"/>
                <a:ea typeface="Nourd"/>
                <a:cs typeface="Nourd"/>
                <a:sym typeface="Nourd"/>
              </a:rPr>
              <a:t>El sensor a implementar es  básico.</a:t>
            </a:r>
          </a:p>
          <a:p>
            <a:pPr algn="l" marL="0" indent="0" lvl="0">
              <a:lnSpc>
                <a:spcPts val="41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9583321">
            <a:off x="3660010" y="7521806"/>
            <a:ext cx="8802070" cy="5889385"/>
          </a:xfrm>
          <a:custGeom>
            <a:avLst/>
            <a:gdLst/>
            <a:ahLst/>
            <a:cxnLst/>
            <a:rect r="r" b="b" t="t" l="l"/>
            <a:pathLst>
              <a:path h="5889385" w="8802070">
                <a:moveTo>
                  <a:pt x="0" y="0"/>
                </a:moveTo>
                <a:lnTo>
                  <a:pt x="8802069" y="0"/>
                </a:lnTo>
                <a:lnTo>
                  <a:pt x="8802069" y="5889384"/>
                </a:lnTo>
                <a:lnTo>
                  <a:pt x="0" y="58893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73566">
            <a:off x="12776612" y="-2704720"/>
            <a:ext cx="3194581" cy="4114800"/>
          </a:xfrm>
          <a:custGeom>
            <a:avLst/>
            <a:gdLst/>
            <a:ahLst/>
            <a:cxnLst/>
            <a:rect r="r" b="b" t="t" l="l"/>
            <a:pathLst>
              <a:path h="4114800" w="3194581">
                <a:moveTo>
                  <a:pt x="0" y="0"/>
                </a:moveTo>
                <a:lnTo>
                  <a:pt x="3194581" y="0"/>
                </a:lnTo>
                <a:lnTo>
                  <a:pt x="319458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830749">
            <a:off x="-2337225" y="2328025"/>
            <a:ext cx="5078842" cy="6541834"/>
          </a:xfrm>
          <a:custGeom>
            <a:avLst/>
            <a:gdLst/>
            <a:ahLst/>
            <a:cxnLst/>
            <a:rect r="r" b="b" t="t" l="l"/>
            <a:pathLst>
              <a:path h="6541834" w="5078842">
                <a:moveTo>
                  <a:pt x="0" y="0"/>
                </a:moveTo>
                <a:lnTo>
                  <a:pt x="5078842" y="0"/>
                </a:lnTo>
                <a:lnTo>
                  <a:pt x="5078842" y="6541834"/>
                </a:lnTo>
                <a:lnTo>
                  <a:pt x="0" y="65418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469777" y="941900"/>
            <a:ext cx="11348445" cy="2447925"/>
          </a:xfrm>
          <a:prstGeom prst="rect">
            <a:avLst/>
          </a:prstGeom>
        </p:spPr>
        <p:txBody>
          <a:bodyPr anchor="t" rtlCol="false" tIns="0" lIns="0" bIns="0" rIns="0">
            <a:spAutoFit/>
          </a:bodyPr>
          <a:lstStyle/>
          <a:p>
            <a:pPr algn="ctr" marL="0" indent="0" lvl="0">
              <a:lnSpc>
                <a:spcPts val="9600"/>
              </a:lnSpc>
              <a:spcBef>
                <a:spcPct val="0"/>
              </a:spcBef>
            </a:pPr>
            <a:r>
              <a:rPr lang="en-US" b="true" sz="8000" spc="-160">
                <a:solidFill>
                  <a:srgbClr val="FFFFFF"/>
                </a:solidFill>
                <a:latin typeface="Bricolage Grotesque Bold"/>
                <a:ea typeface="Bricolage Grotesque Bold"/>
                <a:cs typeface="Bricolage Grotesque Bold"/>
                <a:sym typeface="Bricolage Grotesque Bold"/>
              </a:rPr>
              <a:t>METODOLOGIA DE TRABAJO</a:t>
            </a:r>
          </a:p>
        </p:txBody>
      </p:sp>
      <p:sp>
        <p:nvSpPr>
          <p:cNvPr name="Freeform 6" id="6"/>
          <p:cNvSpPr/>
          <p:nvPr/>
        </p:nvSpPr>
        <p:spPr>
          <a:xfrm flipH="false" flipV="false" rot="0">
            <a:off x="-967032" y="-1144851"/>
            <a:ext cx="4856597" cy="4856597"/>
          </a:xfrm>
          <a:custGeom>
            <a:avLst/>
            <a:gdLst/>
            <a:ahLst/>
            <a:cxnLst/>
            <a:rect r="r" b="b" t="t" l="l"/>
            <a:pathLst>
              <a:path h="4856597" w="4856597">
                <a:moveTo>
                  <a:pt x="0" y="0"/>
                </a:moveTo>
                <a:lnTo>
                  <a:pt x="4856597" y="0"/>
                </a:lnTo>
                <a:lnTo>
                  <a:pt x="4856597" y="4856598"/>
                </a:lnTo>
                <a:lnTo>
                  <a:pt x="0" y="4856598"/>
                </a:lnTo>
                <a:lnTo>
                  <a:pt x="0" y="0"/>
                </a:lnTo>
                <a:close/>
              </a:path>
            </a:pathLst>
          </a:custGeom>
          <a:blipFill>
            <a:blip r:embed="rId6"/>
            <a:stretch>
              <a:fillRect l="0" t="0" r="0" b="0"/>
            </a:stretch>
          </a:blipFill>
        </p:spPr>
      </p:sp>
      <p:grpSp>
        <p:nvGrpSpPr>
          <p:cNvPr name="Group 7" id="7"/>
          <p:cNvGrpSpPr>
            <a:grpSpLocks noChangeAspect="true"/>
          </p:cNvGrpSpPr>
          <p:nvPr/>
        </p:nvGrpSpPr>
        <p:grpSpPr>
          <a:xfrm rot="0">
            <a:off x="-967032" y="-822929"/>
            <a:ext cx="4078964" cy="4212754"/>
            <a:chOff x="0" y="0"/>
            <a:chExt cx="6350000" cy="6558280"/>
          </a:xfrm>
        </p:grpSpPr>
        <p:sp>
          <p:nvSpPr>
            <p:cNvPr name="Freeform 8" id="8"/>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7"/>
              <a:stretch>
                <a:fillRect l="-10799" t="0" r="-10799" b="0"/>
              </a:stretch>
            </a:blipFill>
          </p:spPr>
        </p:sp>
        <p:sp>
          <p:nvSpPr>
            <p:cNvPr name="Freeform 9" id="9"/>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Freeform 10" id="10"/>
          <p:cNvSpPr/>
          <p:nvPr/>
        </p:nvSpPr>
        <p:spPr>
          <a:xfrm flipH="false" flipV="false" rot="0">
            <a:off x="13881604" y="1351000"/>
            <a:ext cx="4856597" cy="4856597"/>
          </a:xfrm>
          <a:custGeom>
            <a:avLst/>
            <a:gdLst/>
            <a:ahLst/>
            <a:cxnLst/>
            <a:rect r="r" b="b" t="t" l="l"/>
            <a:pathLst>
              <a:path h="4856597" w="4856597">
                <a:moveTo>
                  <a:pt x="0" y="0"/>
                </a:moveTo>
                <a:lnTo>
                  <a:pt x="4856597" y="0"/>
                </a:lnTo>
                <a:lnTo>
                  <a:pt x="4856597" y="4856597"/>
                </a:lnTo>
                <a:lnTo>
                  <a:pt x="0" y="4856597"/>
                </a:lnTo>
                <a:lnTo>
                  <a:pt x="0" y="0"/>
                </a:lnTo>
                <a:close/>
              </a:path>
            </a:pathLst>
          </a:custGeom>
          <a:blipFill>
            <a:blip r:embed="rId6"/>
            <a:stretch>
              <a:fillRect l="0" t="0" r="0" b="0"/>
            </a:stretch>
          </a:blipFill>
        </p:spPr>
      </p:sp>
      <p:grpSp>
        <p:nvGrpSpPr>
          <p:cNvPr name="Group 11" id="11"/>
          <p:cNvGrpSpPr>
            <a:grpSpLocks noChangeAspect="true"/>
          </p:cNvGrpSpPr>
          <p:nvPr/>
        </p:nvGrpSpPr>
        <p:grpSpPr>
          <a:xfrm rot="0">
            <a:off x="14451396" y="1672921"/>
            <a:ext cx="4078964" cy="4212754"/>
            <a:chOff x="0" y="0"/>
            <a:chExt cx="6350000" cy="6558280"/>
          </a:xfrm>
        </p:grpSpPr>
        <p:sp>
          <p:nvSpPr>
            <p:cNvPr name="Freeform 12" id="12"/>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8"/>
              <a:stretch>
                <a:fillRect l="-38911" t="0" r="-38911" b="0"/>
              </a:stretch>
            </a:blipFill>
          </p:spPr>
        </p:sp>
        <p:sp>
          <p:nvSpPr>
            <p:cNvPr name="Freeform 13" id="13"/>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TextBox 14" id="14"/>
          <p:cNvSpPr txBox="true"/>
          <p:nvPr/>
        </p:nvSpPr>
        <p:spPr>
          <a:xfrm rot="0">
            <a:off x="5863727" y="4210007"/>
            <a:ext cx="6560546" cy="1148834"/>
          </a:xfrm>
          <a:prstGeom prst="rect">
            <a:avLst/>
          </a:prstGeom>
        </p:spPr>
        <p:txBody>
          <a:bodyPr anchor="t" rtlCol="false" tIns="0" lIns="0" bIns="0" rIns="0">
            <a:spAutoFit/>
          </a:bodyPr>
          <a:lstStyle/>
          <a:p>
            <a:pPr algn="l">
              <a:lnSpc>
                <a:spcPts val="4566"/>
              </a:lnSpc>
            </a:pPr>
            <a:r>
              <a:rPr lang="en-US" sz="3805" b="true">
                <a:solidFill>
                  <a:srgbClr val="FFFFFF"/>
                </a:solidFill>
                <a:latin typeface="Bricolage Grotesque Bold"/>
                <a:ea typeface="Bricolage Grotesque Bold"/>
                <a:cs typeface="Bricolage Grotesque Bold"/>
                <a:sym typeface="Bricolage Grotesque Bold"/>
              </a:rPr>
              <a:t>METODOLOGÍA ÁGIL SCRUM</a:t>
            </a:r>
          </a:p>
          <a:p>
            <a:pPr algn="l" marL="0" indent="0" lvl="0">
              <a:lnSpc>
                <a:spcPts val="4566"/>
              </a:lnSpc>
              <a:spcBef>
                <a:spcPct val="0"/>
              </a:spcBef>
            </a:pPr>
          </a:p>
        </p:txBody>
      </p:sp>
      <p:sp>
        <p:nvSpPr>
          <p:cNvPr name="TextBox 15" id="15"/>
          <p:cNvSpPr txBox="true"/>
          <p:nvPr/>
        </p:nvSpPr>
        <p:spPr>
          <a:xfrm rot="0">
            <a:off x="4340399" y="5790426"/>
            <a:ext cx="9607201" cy="3072157"/>
          </a:xfrm>
          <a:prstGeom prst="rect">
            <a:avLst/>
          </a:prstGeom>
        </p:spPr>
        <p:txBody>
          <a:bodyPr anchor="t" rtlCol="false" tIns="0" lIns="0" bIns="0" rIns="0">
            <a:spAutoFit/>
          </a:bodyPr>
          <a:lstStyle/>
          <a:p>
            <a:pPr algn="l">
              <a:lnSpc>
                <a:spcPts val="4145"/>
              </a:lnSpc>
            </a:pPr>
            <a:r>
              <a:rPr lang="en-US" sz="2657">
                <a:solidFill>
                  <a:srgbClr val="FFFFFF"/>
                </a:solidFill>
                <a:latin typeface="Bricolage Grotesque"/>
                <a:ea typeface="Bricolage Grotesque"/>
                <a:cs typeface="Bricolage Grotesque"/>
                <a:sym typeface="Bricolage Grotesque"/>
              </a:rPr>
              <a:t>Esto nos permitió gestionar el proyecto de forma iterativa y colaborativa, adaptándonos a los requisitos del cliente y enfocándonos en la entrega continua de valor. El trabajo se organizó en sprints de 1 a 2 semanas, con reuniones diarias y revisiones constantes con el cliente para validar los avances.</a:t>
            </a:r>
          </a:p>
          <a:p>
            <a:pPr algn="l">
              <a:lnSpc>
                <a:spcPts val="414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4723141">
            <a:off x="14854135" y="16064"/>
            <a:ext cx="5440240" cy="4114800"/>
          </a:xfrm>
          <a:custGeom>
            <a:avLst/>
            <a:gdLst/>
            <a:ahLst/>
            <a:cxnLst/>
            <a:rect r="r" b="b" t="t" l="l"/>
            <a:pathLst>
              <a:path h="4114800" w="5440240">
                <a:moveTo>
                  <a:pt x="0" y="0"/>
                </a:moveTo>
                <a:lnTo>
                  <a:pt x="5440240" y="0"/>
                </a:lnTo>
                <a:lnTo>
                  <a:pt x="544024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382830">
            <a:off x="6733422" y="8222991"/>
            <a:ext cx="8802070" cy="5889385"/>
          </a:xfrm>
          <a:custGeom>
            <a:avLst/>
            <a:gdLst/>
            <a:ahLst/>
            <a:cxnLst/>
            <a:rect r="r" b="b" t="t" l="l"/>
            <a:pathLst>
              <a:path h="5889385" w="8802070">
                <a:moveTo>
                  <a:pt x="0" y="0"/>
                </a:moveTo>
                <a:lnTo>
                  <a:pt x="8802070" y="0"/>
                </a:lnTo>
                <a:lnTo>
                  <a:pt x="8802070" y="5889384"/>
                </a:lnTo>
                <a:lnTo>
                  <a:pt x="0" y="5889384"/>
                </a:lnTo>
                <a:lnTo>
                  <a:pt x="0" y="0"/>
                </a:lnTo>
                <a:close/>
              </a:path>
            </a:pathLst>
          </a:custGeom>
          <a:blipFill>
            <a:blip r:embed="rId4">
              <a:alphaModFix amt="46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342304">
            <a:off x="-4401035" y="350221"/>
            <a:ext cx="8802070" cy="5889385"/>
          </a:xfrm>
          <a:custGeom>
            <a:avLst/>
            <a:gdLst/>
            <a:ahLst/>
            <a:cxnLst/>
            <a:rect r="r" b="b" t="t" l="l"/>
            <a:pathLst>
              <a:path h="5889385" w="8802070">
                <a:moveTo>
                  <a:pt x="0" y="0"/>
                </a:moveTo>
                <a:lnTo>
                  <a:pt x="8802070" y="0"/>
                </a:lnTo>
                <a:lnTo>
                  <a:pt x="8802070" y="5889385"/>
                </a:lnTo>
                <a:lnTo>
                  <a:pt x="0" y="5889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02588" y="2374344"/>
            <a:ext cx="14193141" cy="7735262"/>
          </a:xfrm>
          <a:custGeom>
            <a:avLst/>
            <a:gdLst/>
            <a:ahLst/>
            <a:cxnLst/>
            <a:rect r="r" b="b" t="t" l="l"/>
            <a:pathLst>
              <a:path h="7735262" w="14193141">
                <a:moveTo>
                  <a:pt x="0" y="0"/>
                </a:moveTo>
                <a:lnTo>
                  <a:pt x="14193141" y="0"/>
                </a:lnTo>
                <a:lnTo>
                  <a:pt x="14193141" y="7735262"/>
                </a:lnTo>
                <a:lnTo>
                  <a:pt x="0" y="7735262"/>
                </a:lnTo>
                <a:lnTo>
                  <a:pt x="0" y="0"/>
                </a:lnTo>
                <a:close/>
              </a:path>
            </a:pathLst>
          </a:custGeom>
          <a:blipFill>
            <a:blip r:embed="rId6"/>
            <a:stretch>
              <a:fillRect l="0" t="0" r="0" b="0"/>
            </a:stretch>
          </a:blipFill>
        </p:spPr>
      </p:sp>
      <p:sp>
        <p:nvSpPr>
          <p:cNvPr name="TextBox 6" id="6"/>
          <p:cNvSpPr txBox="true"/>
          <p:nvPr/>
        </p:nvSpPr>
        <p:spPr>
          <a:xfrm rot="0">
            <a:off x="1707242" y="921987"/>
            <a:ext cx="10520258" cy="2064119"/>
          </a:xfrm>
          <a:prstGeom prst="rect">
            <a:avLst/>
          </a:prstGeom>
        </p:spPr>
        <p:txBody>
          <a:bodyPr anchor="t" rtlCol="false" tIns="0" lIns="0" bIns="0" rIns="0">
            <a:spAutoFit/>
          </a:bodyPr>
          <a:lstStyle/>
          <a:p>
            <a:pPr algn="l" marL="0" indent="0" lvl="0">
              <a:lnSpc>
                <a:spcPts val="5395"/>
              </a:lnSpc>
            </a:pPr>
            <a:r>
              <a:rPr lang="en-US" b="true" sz="4905">
                <a:solidFill>
                  <a:srgbClr val="FFFFFF"/>
                </a:solidFill>
                <a:latin typeface="Bricolage Grotesque Bold"/>
                <a:ea typeface="Bricolage Grotesque Bold"/>
                <a:cs typeface="Bricolage Grotesque Bold"/>
                <a:sym typeface="Bricolage Grotesque Bold"/>
              </a:rPr>
              <a:t>C</a:t>
            </a:r>
            <a:r>
              <a:rPr lang="en-US" b="true" sz="4905">
                <a:solidFill>
                  <a:srgbClr val="FFFFFF"/>
                </a:solidFill>
                <a:latin typeface="Bricolage Grotesque Bold"/>
                <a:ea typeface="Bricolage Grotesque Bold"/>
                <a:cs typeface="Bricolage Grotesque Bold"/>
                <a:sym typeface="Bricolage Grotesque Bold"/>
              </a:rPr>
              <a:t>RONOGRAMA PARA EL DESARROLLO DEL PROYECTO</a:t>
            </a:r>
          </a:p>
          <a:p>
            <a:pPr algn="l" marL="0" indent="0" lvl="0">
              <a:lnSpc>
                <a:spcPts val="539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4723141">
            <a:off x="14854135" y="16064"/>
            <a:ext cx="5440240" cy="4114800"/>
          </a:xfrm>
          <a:custGeom>
            <a:avLst/>
            <a:gdLst/>
            <a:ahLst/>
            <a:cxnLst/>
            <a:rect r="r" b="b" t="t" l="l"/>
            <a:pathLst>
              <a:path h="4114800" w="5440240">
                <a:moveTo>
                  <a:pt x="0" y="0"/>
                </a:moveTo>
                <a:lnTo>
                  <a:pt x="5440240" y="0"/>
                </a:lnTo>
                <a:lnTo>
                  <a:pt x="544024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382830">
            <a:off x="6733422" y="8222991"/>
            <a:ext cx="8802070" cy="5889385"/>
          </a:xfrm>
          <a:custGeom>
            <a:avLst/>
            <a:gdLst/>
            <a:ahLst/>
            <a:cxnLst/>
            <a:rect r="r" b="b" t="t" l="l"/>
            <a:pathLst>
              <a:path h="5889385" w="8802070">
                <a:moveTo>
                  <a:pt x="0" y="0"/>
                </a:moveTo>
                <a:lnTo>
                  <a:pt x="8802070" y="0"/>
                </a:lnTo>
                <a:lnTo>
                  <a:pt x="8802070" y="5889384"/>
                </a:lnTo>
                <a:lnTo>
                  <a:pt x="0" y="5889384"/>
                </a:lnTo>
                <a:lnTo>
                  <a:pt x="0" y="0"/>
                </a:lnTo>
                <a:close/>
              </a:path>
            </a:pathLst>
          </a:custGeom>
          <a:blipFill>
            <a:blip r:embed="rId4">
              <a:alphaModFix amt="46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342304">
            <a:off x="-4401035" y="350221"/>
            <a:ext cx="8802070" cy="5889385"/>
          </a:xfrm>
          <a:custGeom>
            <a:avLst/>
            <a:gdLst/>
            <a:ahLst/>
            <a:cxnLst/>
            <a:rect r="r" b="b" t="t" l="l"/>
            <a:pathLst>
              <a:path h="5889385" w="8802070">
                <a:moveTo>
                  <a:pt x="0" y="0"/>
                </a:moveTo>
                <a:lnTo>
                  <a:pt x="8802070" y="0"/>
                </a:lnTo>
                <a:lnTo>
                  <a:pt x="8802070" y="5889385"/>
                </a:lnTo>
                <a:lnTo>
                  <a:pt x="0" y="5889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692821" y="2226515"/>
            <a:ext cx="12902358" cy="7031785"/>
          </a:xfrm>
          <a:custGeom>
            <a:avLst/>
            <a:gdLst/>
            <a:ahLst/>
            <a:cxnLst/>
            <a:rect r="r" b="b" t="t" l="l"/>
            <a:pathLst>
              <a:path h="7031785" w="12902358">
                <a:moveTo>
                  <a:pt x="0" y="0"/>
                </a:moveTo>
                <a:lnTo>
                  <a:pt x="12902358" y="0"/>
                </a:lnTo>
                <a:lnTo>
                  <a:pt x="12902358" y="7031785"/>
                </a:lnTo>
                <a:lnTo>
                  <a:pt x="0" y="7031785"/>
                </a:lnTo>
                <a:lnTo>
                  <a:pt x="0" y="0"/>
                </a:lnTo>
                <a:close/>
              </a:path>
            </a:pathLst>
          </a:custGeom>
          <a:blipFill>
            <a:blip r:embed="rId6"/>
            <a:stretch>
              <a:fillRect l="0" t="0" r="0" b="0"/>
            </a:stretch>
          </a:blipFill>
        </p:spPr>
      </p:sp>
      <p:sp>
        <p:nvSpPr>
          <p:cNvPr name="TextBox 6" id="6"/>
          <p:cNvSpPr txBox="true"/>
          <p:nvPr/>
        </p:nvSpPr>
        <p:spPr>
          <a:xfrm rot="0">
            <a:off x="1707242" y="921987"/>
            <a:ext cx="10520258" cy="697820"/>
          </a:xfrm>
          <a:prstGeom prst="rect">
            <a:avLst/>
          </a:prstGeom>
        </p:spPr>
        <p:txBody>
          <a:bodyPr anchor="t" rtlCol="false" tIns="0" lIns="0" bIns="0" rIns="0">
            <a:spAutoFit/>
          </a:bodyPr>
          <a:lstStyle/>
          <a:p>
            <a:pPr algn="l" marL="0" indent="0" lvl="0">
              <a:lnSpc>
                <a:spcPts val="5395"/>
              </a:lnSpc>
            </a:pPr>
            <a:r>
              <a:rPr lang="en-US" b="true" sz="4905">
                <a:solidFill>
                  <a:srgbClr val="FFFFFF"/>
                </a:solidFill>
                <a:latin typeface="Bricolage Grotesque Bold"/>
                <a:ea typeface="Bricolage Grotesque Bold"/>
                <a:cs typeface="Bricolage Grotesque Bold"/>
                <a:sym typeface="Bricolage Grotesque Bold"/>
              </a:rPr>
              <a:t>ARQUITECTURA DE SOFTWARE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4723141">
            <a:off x="14854135" y="16064"/>
            <a:ext cx="5440240" cy="4114800"/>
          </a:xfrm>
          <a:custGeom>
            <a:avLst/>
            <a:gdLst/>
            <a:ahLst/>
            <a:cxnLst/>
            <a:rect r="r" b="b" t="t" l="l"/>
            <a:pathLst>
              <a:path h="4114800" w="5440240">
                <a:moveTo>
                  <a:pt x="0" y="0"/>
                </a:moveTo>
                <a:lnTo>
                  <a:pt x="5440240" y="0"/>
                </a:lnTo>
                <a:lnTo>
                  <a:pt x="544024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382830">
            <a:off x="6733422" y="8222991"/>
            <a:ext cx="8802070" cy="5889385"/>
          </a:xfrm>
          <a:custGeom>
            <a:avLst/>
            <a:gdLst/>
            <a:ahLst/>
            <a:cxnLst/>
            <a:rect r="r" b="b" t="t" l="l"/>
            <a:pathLst>
              <a:path h="5889385" w="8802070">
                <a:moveTo>
                  <a:pt x="0" y="0"/>
                </a:moveTo>
                <a:lnTo>
                  <a:pt x="8802070" y="0"/>
                </a:lnTo>
                <a:lnTo>
                  <a:pt x="8802070" y="5889384"/>
                </a:lnTo>
                <a:lnTo>
                  <a:pt x="0" y="5889384"/>
                </a:lnTo>
                <a:lnTo>
                  <a:pt x="0" y="0"/>
                </a:lnTo>
                <a:close/>
              </a:path>
            </a:pathLst>
          </a:custGeom>
          <a:blipFill>
            <a:blip r:embed="rId4">
              <a:alphaModFix amt="46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342304">
            <a:off x="-4401035" y="350221"/>
            <a:ext cx="8802070" cy="5889385"/>
          </a:xfrm>
          <a:custGeom>
            <a:avLst/>
            <a:gdLst/>
            <a:ahLst/>
            <a:cxnLst/>
            <a:rect r="r" b="b" t="t" l="l"/>
            <a:pathLst>
              <a:path h="5889385" w="8802070">
                <a:moveTo>
                  <a:pt x="0" y="0"/>
                </a:moveTo>
                <a:lnTo>
                  <a:pt x="8802070" y="0"/>
                </a:lnTo>
                <a:lnTo>
                  <a:pt x="8802070" y="5889385"/>
                </a:lnTo>
                <a:lnTo>
                  <a:pt x="0" y="5889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54358" y="2073464"/>
            <a:ext cx="6873143" cy="7777248"/>
          </a:xfrm>
          <a:custGeom>
            <a:avLst/>
            <a:gdLst/>
            <a:ahLst/>
            <a:cxnLst/>
            <a:rect r="r" b="b" t="t" l="l"/>
            <a:pathLst>
              <a:path h="7777248" w="6873143">
                <a:moveTo>
                  <a:pt x="0" y="0"/>
                </a:moveTo>
                <a:lnTo>
                  <a:pt x="6873142" y="0"/>
                </a:lnTo>
                <a:lnTo>
                  <a:pt x="6873142" y="7777247"/>
                </a:lnTo>
                <a:lnTo>
                  <a:pt x="0" y="7777247"/>
                </a:lnTo>
                <a:lnTo>
                  <a:pt x="0" y="0"/>
                </a:lnTo>
                <a:close/>
              </a:path>
            </a:pathLst>
          </a:custGeom>
          <a:blipFill>
            <a:blip r:embed="rId6"/>
            <a:stretch>
              <a:fillRect l="0" t="0" r="0" b="0"/>
            </a:stretch>
          </a:blipFill>
          <a:ln w="9525" cap="sq">
            <a:solidFill>
              <a:srgbClr val="000000"/>
            </a:solidFill>
            <a:prstDash val="solid"/>
            <a:miter/>
          </a:ln>
        </p:spPr>
      </p:sp>
      <p:sp>
        <p:nvSpPr>
          <p:cNvPr name="TextBox 6" id="6"/>
          <p:cNvSpPr txBox="true"/>
          <p:nvPr/>
        </p:nvSpPr>
        <p:spPr>
          <a:xfrm rot="0">
            <a:off x="1707242" y="921987"/>
            <a:ext cx="10520258" cy="697820"/>
          </a:xfrm>
          <a:prstGeom prst="rect">
            <a:avLst/>
          </a:prstGeom>
        </p:spPr>
        <p:txBody>
          <a:bodyPr anchor="t" rtlCol="false" tIns="0" lIns="0" bIns="0" rIns="0">
            <a:spAutoFit/>
          </a:bodyPr>
          <a:lstStyle/>
          <a:p>
            <a:pPr algn="l" marL="0" indent="0" lvl="0">
              <a:lnSpc>
                <a:spcPts val="5395"/>
              </a:lnSpc>
            </a:pPr>
            <a:r>
              <a:rPr lang="en-US" b="true" sz="4905">
                <a:solidFill>
                  <a:srgbClr val="FFFFFF"/>
                </a:solidFill>
                <a:latin typeface="Bricolage Grotesque Bold"/>
                <a:ea typeface="Bricolage Grotesque Bold"/>
                <a:cs typeface="Bricolage Grotesque Bold"/>
                <a:sym typeface="Bricolage Grotesque Bold"/>
              </a:rPr>
              <a:t>MODELO DE BASE DE DATOS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4723141">
            <a:off x="14854135" y="16064"/>
            <a:ext cx="5440240" cy="4114800"/>
          </a:xfrm>
          <a:custGeom>
            <a:avLst/>
            <a:gdLst/>
            <a:ahLst/>
            <a:cxnLst/>
            <a:rect r="r" b="b" t="t" l="l"/>
            <a:pathLst>
              <a:path h="4114800" w="5440240">
                <a:moveTo>
                  <a:pt x="0" y="0"/>
                </a:moveTo>
                <a:lnTo>
                  <a:pt x="5440240" y="0"/>
                </a:lnTo>
                <a:lnTo>
                  <a:pt x="5440240" y="4114800"/>
                </a:lnTo>
                <a:lnTo>
                  <a:pt x="0" y="4114800"/>
                </a:lnTo>
                <a:lnTo>
                  <a:pt x="0" y="0"/>
                </a:lnTo>
                <a:close/>
              </a:path>
            </a:pathLst>
          </a:custGeom>
          <a:blipFill>
            <a:blip r:embed="rId2">
              <a:alphaModFix amt="5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382830">
            <a:off x="6733422" y="8222991"/>
            <a:ext cx="8802070" cy="5889385"/>
          </a:xfrm>
          <a:custGeom>
            <a:avLst/>
            <a:gdLst/>
            <a:ahLst/>
            <a:cxnLst/>
            <a:rect r="r" b="b" t="t" l="l"/>
            <a:pathLst>
              <a:path h="5889385" w="8802070">
                <a:moveTo>
                  <a:pt x="0" y="0"/>
                </a:moveTo>
                <a:lnTo>
                  <a:pt x="8802070" y="0"/>
                </a:lnTo>
                <a:lnTo>
                  <a:pt x="8802070" y="5889384"/>
                </a:lnTo>
                <a:lnTo>
                  <a:pt x="0" y="5889384"/>
                </a:lnTo>
                <a:lnTo>
                  <a:pt x="0" y="0"/>
                </a:lnTo>
                <a:close/>
              </a:path>
            </a:pathLst>
          </a:custGeom>
          <a:blipFill>
            <a:blip r:embed="rId4">
              <a:alphaModFix amt="46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342304">
            <a:off x="-4401035" y="350221"/>
            <a:ext cx="8802070" cy="5889385"/>
          </a:xfrm>
          <a:custGeom>
            <a:avLst/>
            <a:gdLst/>
            <a:ahLst/>
            <a:cxnLst/>
            <a:rect r="r" b="b" t="t" l="l"/>
            <a:pathLst>
              <a:path h="5889385" w="8802070">
                <a:moveTo>
                  <a:pt x="0" y="0"/>
                </a:moveTo>
                <a:lnTo>
                  <a:pt x="8802070" y="0"/>
                </a:lnTo>
                <a:lnTo>
                  <a:pt x="8802070" y="5889385"/>
                </a:lnTo>
                <a:lnTo>
                  <a:pt x="0" y="5889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204974" y="2429107"/>
            <a:ext cx="1906047" cy="1849728"/>
          </a:xfrm>
          <a:custGeom>
            <a:avLst/>
            <a:gdLst/>
            <a:ahLst/>
            <a:cxnLst/>
            <a:rect r="r" b="b" t="t" l="l"/>
            <a:pathLst>
              <a:path h="1849728" w="1906047">
                <a:moveTo>
                  <a:pt x="0" y="0"/>
                </a:moveTo>
                <a:lnTo>
                  <a:pt x="1906047" y="0"/>
                </a:lnTo>
                <a:lnTo>
                  <a:pt x="1906047" y="1849729"/>
                </a:lnTo>
                <a:lnTo>
                  <a:pt x="0" y="1849729"/>
                </a:lnTo>
                <a:lnTo>
                  <a:pt x="0" y="0"/>
                </a:lnTo>
                <a:close/>
              </a:path>
            </a:pathLst>
          </a:custGeom>
          <a:blipFill>
            <a:blip r:embed="rId6"/>
            <a:stretch>
              <a:fillRect l="0" t="-2471" r="-3241" b="-2471"/>
            </a:stretch>
          </a:blipFill>
        </p:spPr>
      </p:sp>
      <p:sp>
        <p:nvSpPr>
          <p:cNvPr name="Freeform 6" id="6"/>
          <p:cNvSpPr/>
          <p:nvPr/>
        </p:nvSpPr>
        <p:spPr>
          <a:xfrm flipH="false" flipV="false" rot="0">
            <a:off x="1028700" y="4868692"/>
            <a:ext cx="4250918" cy="1205157"/>
          </a:xfrm>
          <a:custGeom>
            <a:avLst/>
            <a:gdLst/>
            <a:ahLst/>
            <a:cxnLst/>
            <a:rect r="r" b="b" t="t" l="l"/>
            <a:pathLst>
              <a:path h="1205157" w="4250918">
                <a:moveTo>
                  <a:pt x="0" y="0"/>
                </a:moveTo>
                <a:lnTo>
                  <a:pt x="4250918" y="0"/>
                </a:lnTo>
                <a:lnTo>
                  <a:pt x="4250918" y="1205157"/>
                </a:lnTo>
                <a:lnTo>
                  <a:pt x="0" y="1205157"/>
                </a:lnTo>
                <a:lnTo>
                  <a:pt x="0" y="0"/>
                </a:lnTo>
                <a:close/>
              </a:path>
            </a:pathLst>
          </a:custGeom>
          <a:blipFill>
            <a:blip r:embed="rId7"/>
            <a:stretch>
              <a:fillRect l="0" t="0" r="0" b="0"/>
            </a:stretch>
          </a:blipFill>
        </p:spPr>
      </p:sp>
      <p:sp>
        <p:nvSpPr>
          <p:cNvPr name="Freeform 7" id="7"/>
          <p:cNvSpPr/>
          <p:nvPr/>
        </p:nvSpPr>
        <p:spPr>
          <a:xfrm flipH="false" flipV="false" rot="0">
            <a:off x="188001" y="2452242"/>
            <a:ext cx="4724527" cy="1583640"/>
          </a:xfrm>
          <a:custGeom>
            <a:avLst/>
            <a:gdLst/>
            <a:ahLst/>
            <a:cxnLst/>
            <a:rect r="r" b="b" t="t" l="l"/>
            <a:pathLst>
              <a:path h="1583640" w="4724527">
                <a:moveTo>
                  <a:pt x="0" y="0"/>
                </a:moveTo>
                <a:lnTo>
                  <a:pt x="4724527" y="0"/>
                </a:lnTo>
                <a:lnTo>
                  <a:pt x="4724527" y="1583640"/>
                </a:lnTo>
                <a:lnTo>
                  <a:pt x="0" y="1583640"/>
                </a:lnTo>
                <a:lnTo>
                  <a:pt x="0" y="0"/>
                </a:lnTo>
                <a:close/>
              </a:path>
            </a:pathLst>
          </a:custGeom>
          <a:blipFill>
            <a:blip r:embed="rId8"/>
            <a:stretch>
              <a:fillRect l="0" t="0" r="0" b="0"/>
            </a:stretch>
          </a:blipFill>
        </p:spPr>
      </p:sp>
      <p:sp>
        <p:nvSpPr>
          <p:cNvPr name="Freeform 8" id="8"/>
          <p:cNvSpPr/>
          <p:nvPr/>
        </p:nvSpPr>
        <p:spPr>
          <a:xfrm flipH="false" flipV="false" rot="0">
            <a:off x="9602468" y="1876751"/>
            <a:ext cx="2880886" cy="3382338"/>
          </a:xfrm>
          <a:custGeom>
            <a:avLst/>
            <a:gdLst/>
            <a:ahLst/>
            <a:cxnLst/>
            <a:rect r="r" b="b" t="t" l="l"/>
            <a:pathLst>
              <a:path h="3382338" w="2880886">
                <a:moveTo>
                  <a:pt x="0" y="0"/>
                </a:moveTo>
                <a:lnTo>
                  <a:pt x="2880886" y="0"/>
                </a:lnTo>
                <a:lnTo>
                  <a:pt x="2880886" y="3382337"/>
                </a:lnTo>
                <a:lnTo>
                  <a:pt x="0" y="3382337"/>
                </a:lnTo>
                <a:lnTo>
                  <a:pt x="0" y="0"/>
                </a:lnTo>
                <a:close/>
              </a:path>
            </a:pathLst>
          </a:custGeom>
          <a:blipFill>
            <a:blip r:embed="rId9"/>
            <a:stretch>
              <a:fillRect l="0" t="0" r="0" b="0"/>
            </a:stretch>
          </a:blipFill>
        </p:spPr>
      </p:sp>
      <p:sp>
        <p:nvSpPr>
          <p:cNvPr name="Freeform 9" id="9"/>
          <p:cNvSpPr/>
          <p:nvPr/>
        </p:nvSpPr>
        <p:spPr>
          <a:xfrm flipH="false" flipV="false" rot="0">
            <a:off x="12499427" y="2339733"/>
            <a:ext cx="4759873" cy="1696149"/>
          </a:xfrm>
          <a:custGeom>
            <a:avLst/>
            <a:gdLst/>
            <a:ahLst/>
            <a:cxnLst/>
            <a:rect r="r" b="b" t="t" l="l"/>
            <a:pathLst>
              <a:path h="1696149" w="4759873">
                <a:moveTo>
                  <a:pt x="0" y="0"/>
                </a:moveTo>
                <a:lnTo>
                  <a:pt x="4759873" y="0"/>
                </a:lnTo>
                <a:lnTo>
                  <a:pt x="4759873" y="1696149"/>
                </a:lnTo>
                <a:lnTo>
                  <a:pt x="0" y="1696149"/>
                </a:lnTo>
                <a:lnTo>
                  <a:pt x="0" y="0"/>
                </a:lnTo>
                <a:close/>
              </a:path>
            </a:pathLst>
          </a:custGeom>
          <a:blipFill>
            <a:blip r:embed="rId10"/>
            <a:stretch>
              <a:fillRect l="0" t="0" r="0" b="0"/>
            </a:stretch>
          </a:blipFill>
        </p:spPr>
      </p:sp>
      <p:sp>
        <p:nvSpPr>
          <p:cNvPr name="Freeform 10" id="10"/>
          <p:cNvSpPr/>
          <p:nvPr/>
        </p:nvSpPr>
        <p:spPr>
          <a:xfrm flipH="false" flipV="false" rot="0">
            <a:off x="706652" y="6902524"/>
            <a:ext cx="2876275" cy="1959462"/>
          </a:xfrm>
          <a:custGeom>
            <a:avLst/>
            <a:gdLst/>
            <a:ahLst/>
            <a:cxnLst/>
            <a:rect r="r" b="b" t="t" l="l"/>
            <a:pathLst>
              <a:path h="1959462" w="2876275">
                <a:moveTo>
                  <a:pt x="0" y="0"/>
                </a:moveTo>
                <a:lnTo>
                  <a:pt x="2876275" y="0"/>
                </a:lnTo>
                <a:lnTo>
                  <a:pt x="2876275" y="1959462"/>
                </a:lnTo>
                <a:lnTo>
                  <a:pt x="0" y="1959462"/>
                </a:lnTo>
                <a:lnTo>
                  <a:pt x="0" y="0"/>
                </a:lnTo>
                <a:close/>
              </a:path>
            </a:pathLst>
          </a:custGeom>
          <a:blipFill>
            <a:blip r:embed="rId11"/>
            <a:stretch>
              <a:fillRect l="0" t="0" r="0" b="0"/>
            </a:stretch>
          </a:blipFill>
        </p:spPr>
      </p:sp>
      <p:sp>
        <p:nvSpPr>
          <p:cNvPr name="Freeform 11" id="11"/>
          <p:cNvSpPr/>
          <p:nvPr/>
        </p:nvSpPr>
        <p:spPr>
          <a:xfrm flipH="false" flipV="false" rot="0">
            <a:off x="4131325" y="6422254"/>
            <a:ext cx="2745665" cy="2745665"/>
          </a:xfrm>
          <a:custGeom>
            <a:avLst/>
            <a:gdLst/>
            <a:ahLst/>
            <a:cxnLst/>
            <a:rect r="r" b="b" t="t" l="l"/>
            <a:pathLst>
              <a:path h="2745665" w="2745665">
                <a:moveTo>
                  <a:pt x="0" y="0"/>
                </a:moveTo>
                <a:lnTo>
                  <a:pt x="2745665" y="0"/>
                </a:lnTo>
                <a:lnTo>
                  <a:pt x="2745665" y="2745665"/>
                </a:lnTo>
                <a:lnTo>
                  <a:pt x="0" y="2745665"/>
                </a:lnTo>
                <a:lnTo>
                  <a:pt x="0" y="0"/>
                </a:lnTo>
                <a:close/>
              </a:path>
            </a:pathLst>
          </a:custGeom>
          <a:blipFill>
            <a:blip r:embed="rId12"/>
            <a:stretch>
              <a:fillRect l="0" t="0" r="0" b="0"/>
            </a:stretch>
          </a:blipFill>
        </p:spPr>
      </p:sp>
      <p:sp>
        <p:nvSpPr>
          <p:cNvPr name="Freeform 12" id="12"/>
          <p:cNvSpPr/>
          <p:nvPr/>
        </p:nvSpPr>
        <p:spPr>
          <a:xfrm flipH="false" flipV="false" rot="0">
            <a:off x="6157997" y="4936727"/>
            <a:ext cx="3144839" cy="1138939"/>
          </a:xfrm>
          <a:custGeom>
            <a:avLst/>
            <a:gdLst/>
            <a:ahLst/>
            <a:cxnLst/>
            <a:rect r="r" b="b" t="t" l="l"/>
            <a:pathLst>
              <a:path h="1138939" w="3144839">
                <a:moveTo>
                  <a:pt x="0" y="0"/>
                </a:moveTo>
                <a:lnTo>
                  <a:pt x="3144840" y="0"/>
                </a:lnTo>
                <a:lnTo>
                  <a:pt x="3144840" y="1138939"/>
                </a:lnTo>
                <a:lnTo>
                  <a:pt x="0" y="1138939"/>
                </a:lnTo>
                <a:lnTo>
                  <a:pt x="0" y="0"/>
                </a:lnTo>
                <a:close/>
              </a:path>
            </a:pathLst>
          </a:custGeom>
          <a:blipFill>
            <a:blip r:embed="rId13"/>
            <a:stretch>
              <a:fillRect l="-187" t="-659" r="0" b="-659"/>
            </a:stretch>
          </a:blipFill>
        </p:spPr>
      </p:sp>
      <p:sp>
        <p:nvSpPr>
          <p:cNvPr name="Freeform 13" id="13"/>
          <p:cNvSpPr/>
          <p:nvPr/>
        </p:nvSpPr>
        <p:spPr>
          <a:xfrm flipH="false" flipV="false" rot="0">
            <a:off x="13082534" y="4360673"/>
            <a:ext cx="1796830" cy="1796830"/>
          </a:xfrm>
          <a:custGeom>
            <a:avLst/>
            <a:gdLst/>
            <a:ahLst/>
            <a:cxnLst/>
            <a:rect r="r" b="b" t="t" l="l"/>
            <a:pathLst>
              <a:path h="1796830" w="1796830">
                <a:moveTo>
                  <a:pt x="0" y="0"/>
                </a:moveTo>
                <a:lnTo>
                  <a:pt x="1796830" y="0"/>
                </a:lnTo>
                <a:lnTo>
                  <a:pt x="1796830" y="1796830"/>
                </a:lnTo>
                <a:lnTo>
                  <a:pt x="0" y="1796830"/>
                </a:lnTo>
                <a:lnTo>
                  <a:pt x="0" y="0"/>
                </a:lnTo>
                <a:close/>
              </a:path>
            </a:pathLst>
          </a:custGeom>
          <a:blipFill>
            <a:blip r:embed="rId14"/>
            <a:stretch>
              <a:fillRect l="0" t="0" r="0" b="0"/>
            </a:stretch>
          </a:blipFill>
        </p:spPr>
      </p:sp>
      <p:sp>
        <p:nvSpPr>
          <p:cNvPr name="Freeform 14" id="14"/>
          <p:cNvSpPr/>
          <p:nvPr/>
        </p:nvSpPr>
        <p:spPr>
          <a:xfrm flipH="false" flipV="false" rot="0">
            <a:off x="10628740" y="5874493"/>
            <a:ext cx="2056061" cy="2056061"/>
          </a:xfrm>
          <a:custGeom>
            <a:avLst/>
            <a:gdLst/>
            <a:ahLst/>
            <a:cxnLst/>
            <a:rect r="r" b="b" t="t" l="l"/>
            <a:pathLst>
              <a:path h="2056061" w="2056061">
                <a:moveTo>
                  <a:pt x="0" y="0"/>
                </a:moveTo>
                <a:lnTo>
                  <a:pt x="2056061" y="0"/>
                </a:lnTo>
                <a:lnTo>
                  <a:pt x="2056061" y="2056061"/>
                </a:lnTo>
                <a:lnTo>
                  <a:pt x="0" y="2056061"/>
                </a:lnTo>
                <a:lnTo>
                  <a:pt x="0" y="0"/>
                </a:lnTo>
                <a:close/>
              </a:path>
            </a:pathLst>
          </a:custGeom>
          <a:blipFill>
            <a:blip r:embed="rId15"/>
            <a:stretch>
              <a:fillRect l="0" t="0" r="0" b="0"/>
            </a:stretch>
          </a:blipFill>
        </p:spPr>
      </p:sp>
      <p:sp>
        <p:nvSpPr>
          <p:cNvPr name="Freeform 15" id="15"/>
          <p:cNvSpPr/>
          <p:nvPr/>
        </p:nvSpPr>
        <p:spPr>
          <a:xfrm flipH="false" flipV="false" rot="0">
            <a:off x="7474400" y="6849801"/>
            <a:ext cx="2128067" cy="2128067"/>
          </a:xfrm>
          <a:custGeom>
            <a:avLst/>
            <a:gdLst/>
            <a:ahLst/>
            <a:cxnLst/>
            <a:rect r="r" b="b" t="t" l="l"/>
            <a:pathLst>
              <a:path h="2128067" w="2128067">
                <a:moveTo>
                  <a:pt x="0" y="0"/>
                </a:moveTo>
                <a:lnTo>
                  <a:pt x="2128068" y="0"/>
                </a:lnTo>
                <a:lnTo>
                  <a:pt x="2128068" y="2128068"/>
                </a:lnTo>
                <a:lnTo>
                  <a:pt x="0" y="2128068"/>
                </a:lnTo>
                <a:lnTo>
                  <a:pt x="0" y="0"/>
                </a:lnTo>
                <a:close/>
              </a:path>
            </a:pathLst>
          </a:custGeom>
          <a:blipFill>
            <a:blip r:embed="rId16"/>
            <a:stretch>
              <a:fillRect l="0" t="0" r="0" b="0"/>
            </a:stretch>
          </a:blipFill>
        </p:spPr>
      </p:sp>
      <p:sp>
        <p:nvSpPr>
          <p:cNvPr name="Freeform 16" id="16"/>
          <p:cNvSpPr/>
          <p:nvPr/>
        </p:nvSpPr>
        <p:spPr>
          <a:xfrm flipH="false" flipV="false" rot="0">
            <a:off x="7661297" y="2461403"/>
            <a:ext cx="1817433" cy="1817433"/>
          </a:xfrm>
          <a:custGeom>
            <a:avLst/>
            <a:gdLst/>
            <a:ahLst/>
            <a:cxnLst/>
            <a:rect r="r" b="b" t="t" l="l"/>
            <a:pathLst>
              <a:path h="1817433" w="1817433">
                <a:moveTo>
                  <a:pt x="0" y="0"/>
                </a:moveTo>
                <a:lnTo>
                  <a:pt x="1817434" y="0"/>
                </a:lnTo>
                <a:lnTo>
                  <a:pt x="1817434" y="1817433"/>
                </a:lnTo>
                <a:lnTo>
                  <a:pt x="0" y="1817433"/>
                </a:lnTo>
                <a:lnTo>
                  <a:pt x="0" y="0"/>
                </a:lnTo>
                <a:close/>
              </a:path>
            </a:pathLst>
          </a:custGeom>
          <a:blipFill>
            <a:blip r:embed="rId17"/>
            <a:stretch>
              <a:fillRect l="0" t="0" r="0" b="0"/>
            </a:stretch>
          </a:blipFill>
        </p:spPr>
      </p:sp>
      <p:sp>
        <p:nvSpPr>
          <p:cNvPr name="Freeform 17" id="17"/>
          <p:cNvSpPr/>
          <p:nvPr/>
        </p:nvSpPr>
        <p:spPr>
          <a:xfrm flipH="false" flipV="false" rot="0">
            <a:off x="14437855" y="4157784"/>
            <a:ext cx="3915749" cy="2202609"/>
          </a:xfrm>
          <a:custGeom>
            <a:avLst/>
            <a:gdLst/>
            <a:ahLst/>
            <a:cxnLst/>
            <a:rect r="r" b="b" t="t" l="l"/>
            <a:pathLst>
              <a:path h="2202609" w="3915749">
                <a:moveTo>
                  <a:pt x="0" y="0"/>
                </a:moveTo>
                <a:lnTo>
                  <a:pt x="3915748" y="0"/>
                </a:lnTo>
                <a:lnTo>
                  <a:pt x="3915748" y="2202609"/>
                </a:lnTo>
                <a:lnTo>
                  <a:pt x="0" y="2202609"/>
                </a:lnTo>
                <a:lnTo>
                  <a:pt x="0" y="0"/>
                </a:lnTo>
                <a:close/>
              </a:path>
            </a:pathLst>
          </a:custGeom>
          <a:blipFill>
            <a:blip r:embed="rId18"/>
            <a:stretch>
              <a:fillRect l="0" t="0" r="0" b="0"/>
            </a:stretch>
          </a:blipFill>
        </p:spPr>
      </p:sp>
      <p:sp>
        <p:nvSpPr>
          <p:cNvPr name="Freeform 18" id="18"/>
          <p:cNvSpPr/>
          <p:nvPr/>
        </p:nvSpPr>
        <p:spPr>
          <a:xfrm flipH="false" flipV="false" rot="0">
            <a:off x="10154918" y="8254473"/>
            <a:ext cx="3910249" cy="1446792"/>
          </a:xfrm>
          <a:custGeom>
            <a:avLst/>
            <a:gdLst/>
            <a:ahLst/>
            <a:cxnLst/>
            <a:rect r="r" b="b" t="t" l="l"/>
            <a:pathLst>
              <a:path h="1446792" w="3910249">
                <a:moveTo>
                  <a:pt x="0" y="0"/>
                </a:moveTo>
                <a:lnTo>
                  <a:pt x="3910249" y="0"/>
                </a:lnTo>
                <a:lnTo>
                  <a:pt x="3910249" y="1446792"/>
                </a:lnTo>
                <a:lnTo>
                  <a:pt x="0" y="1446792"/>
                </a:lnTo>
                <a:lnTo>
                  <a:pt x="0" y="0"/>
                </a:lnTo>
                <a:close/>
              </a:path>
            </a:pathLst>
          </a:custGeom>
          <a:blipFill>
            <a:blip r:embed="rId19"/>
            <a:stretch>
              <a:fillRect l="0" t="0" r="0" b="0"/>
            </a:stretch>
          </a:blipFill>
        </p:spPr>
      </p:sp>
      <p:sp>
        <p:nvSpPr>
          <p:cNvPr name="TextBox 19" id="19"/>
          <p:cNvSpPr txBox="true"/>
          <p:nvPr/>
        </p:nvSpPr>
        <p:spPr>
          <a:xfrm rot="0">
            <a:off x="1707242" y="921987"/>
            <a:ext cx="10520258" cy="697820"/>
          </a:xfrm>
          <a:prstGeom prst="rect">
            <a:avLst/>
          </a:prstGeom>
        </p:spPr>
        <p:txBody>
          <a:bodyPr anchor="t" rtlCol="false" tIns="0" lIns="0" bIns="0" rIns="0">
            <a:spAutoFit/>
          </a:bodyPr>
          <a:lstStyle/>
          <a:p>
            <a:pPr algn="l" marL="0" indent="0" lvl="0">
              <a:lnSpc>
                <a:spcPts val="5395"/>
              </a:lnSpc>
            </a:pPr>
            <a:r>
              <a:rPr lang="en-US" b="true" sz="4905">
                <a:solidFill>
                  <a:srgbClr val="FFFFFF"/>
                </a:solidFill>
                <a:latin typeface="Bricolage Grotesque Bold"/>
                <a:ea typeface="Bricolage Grotesque Bold"/>
                <a:cs typeface="Bricolage Grotesque Bold"/>
                <a:sym typeface="Bricolage Grotesque Bold"/>
              </a:rPr>
              <a:t>TECNOLOGIAS UTILIZADAS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8837388">
            <a:off x="-3401193" y="-2955510"/>
            <a:ext cx="5222398" cy="6726743"/>
          </a:xfrm>
          <a:custGeom>
            <a:avLst/>
            <a:gdLst/>
            <a:ahLst/>
            <a:cxnLst/>
            <a:rect r="r" b="b" t="t" l="l"/>
            <a:pathLst>
              <a:path h="6726743" w="5222398">
                <a:moveTo>
                  <a:pt x="0" y="0"/>
                </a:moveTo>
                <a:lnTo>
                  <a:pt x="5222398" y="0"/>
                </a:lnTo>
                <a:lnTo>
                  <a:pt x="5222398" y="6726743"/>
                </a:lnTo>
                <a:lnTo>
                  <a:pt x="0" y="67267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806831">
            <a:off x="12560717" y="1065628"/>
            <a:ext cx="12485157" cy="9034714"/>
          </a:xfrm>
          <a:custGeom>
            <a:avLst/>
            <a:gdLst/>
            <a:ahLst/>
            <a:cxnLst/>
            <a:rect r="r" b="b" t="t" l="l"/>
            <a:pathLst>
              <a:path h="9034714" w="12485157">
                <a:moveTo>
                  <a:pt x="0" y="0"/>
                </a:moveTo>
                <a:lnTo>
                  <a:pt x="12485157" y="0"/>
                </a:lnTo>
                <a:lnTo>
                  <a:pt x="12485157" y="9034714"/>
                </a:lnTo>
                <a:lnTo>
                  <a:pt x="0" y="9034714"/>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696749" y="8505032"/>
            <a:ext cx="8595850" cy="6345300"/>
          </a:xfrm>
          <a:custGeom>
            <a:avLst/>
            <a:gdLst/>
            <a:ahLst/>
            <a:cxnLst/>
            <a:rect r="r" b="b" t="t" l="l"/>
            <a:pathLst>
              <a:path h="6345300" w="8595850">
                <a:moveTo>
                  <a:pt x="0" y="0"/>
                </a:moveTo>
                <a:lnTo>
                  <a:pt x="8595850" y="0"/>
                </a:lnTo>
                <a:lnTo>
                  <a:pt x="8595850" y="6345300"/>
                </a:lnTo>
                <a:lnTo>
                  <a:pt x="0" y="63453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790787" y="3960598"/>
            <a:ext cx="14084886" cy="1057275"/>
          </a:xfrm>
          <a:prstGeom prst="rect">
            <a:avLst/>
          </a:prstGeom>
        </p:spPr>
        <p:txBody>
          <a:bodyPr anchor="t" rtlCol="false" tIns="0" lIns="0" bIns="0" rIns="0">
            <a:spAutoFit/>
          </a:bodyPr>
          <a:lstStyle/>
          <a:p>
            <a:pPr algn="l" marL="0" indent="0" lvl="0">
              <a:lnSpc>
                <a:spcPts val="8399"/>
              </a:lnSpc>
              <a:spcBef>
                <a:spcPct val="0"/>
              </a:spcBef>
            </a:pPr>
            <a:r>
              <a:rPr lang="en-US" b="true" sz="6999">
                <a:solidFill>
                  <a:srgbClr val="FFFFFF"/>
                </a:solidFill>
                <a:latin typeface="Bricolage Grotesque Bold"/>
                <a:ea typeface="Bricolage Grotesque Bold"/>
                <a:cs typeface="Bricolage Grotesque Bold"/>
                <a:sym typeface="Bricolage Grotesque Bold"/>
              </a:rPr>
              <a:t>DEMOSTRACION DE PROYECTO</a:t>
            </a:r>
          </a:p>
        </p:txBody>
      </p:sp>
      <p:sp>
        <p:nvSpPr>
          <p:cNvPr name="Freeform 6" id="6"/>
          <p:cNvSpPr/>
          <p:nvPr/>
        </p:nvSpPr>
        <p:spPr>
          <a:xfrm flipH="false" flipV="false" rot="0">
            <a:off x="11718853" y="-1149279"/>
            <a:ext cx="4856597" cy="4856597"/>
          </a:xfrm>
          <a:custGeom>
            <a:avLst/>
            <a:gdLst/>
            <a:ahLst/>
            <a:cxnLst/>
            <a:rect r="r" b="b" t="t" l="l"/>
            <a:pathLst>
              <a:path h="4856597" w="4856597">
                <a:moveTo>
                  <a:pt x="0" y="0"/>
                </a:moveTo>
                <a:lnTo>
                  <a:pt x="4856597" y="0"/>
                </a:lnTo>
                <a:lnTo>
                  <a:pt x="4856597" y="4856597"/>
                </a:lnTo>
                <a:lnTo>
                  <a:pt x="0" y="4856597"/>
                </a:lnTo>
                <a:lnTo>
                  <a:pt x="0" y="0"/>
                </a:lnTo>
                <a:close/>
              </a:path>
            </a:pathLst>
          </a:custGeom>
          <a:blipFill>
            <a:blip r:embed="rId8"/>
            <a:stretch>
              <a:fillRect l="0" t="0" r="0" b="0"/>
            </a:stretch>
          </a:blipFill>
        </p:spPr>
      </p:sp>
      <p:grpSp>
        <p:nvGrpSpPr>
          <p:cNvPr name="Group 7" id="7"/>
          <p:cNvGrpSpPr>
            <a:grpSpLocks noChangeAspect="true"/>
          </p:cNvGrpSpPr>
          <p:nvPr/>
        </p:nvGrpSpPr>
        <p:grpSpPr>
          <a:xfrm rot="0">
            <a:off x="11907678" y="-913083"/>
            <a:ext cx="4078964" cy="4212754"/>
            <a:chOff x="0" y="0"/>
            <a:chExt cx="6350000" cy="6558280"/>
          </a:xfrm>
        </p:grpSpPr>
        <p:sp>
          <p:nvSpPr>
            <p:cNvPr name="Freeform 8" id="8"/>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9"/>
              <a:stretch>
                <a:fillRect l="-27519" t="0" r="-27519" b="0"/>
              </a:stretch>
            </a:blipFill>
          </p:spPr>
        </p:sp>
        <p:sp>
          <p:nvSpPr>
            <p:cNvPr name="Freeform 9" id="9"/>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Freeform 10" id="10"/>
          <p:cNvSpPr/>
          <p:nvPr/>
        </p:nvSpPr>
        <p:spPr>
          <a:xfrm flipH="false" flipV="false" rot="0">
            <a:off x="-1465259" y="4816346"/>
            <a:ext cx="6861336" cy="6861336"/>
          </a:xfrm>
          <a:custGeom>
            <a:avLst/>
            <a:gdLst/>
            <a:ahLst/>
            <a:cxnLst/>
            <a:rect r="r" b="b" t="t" l="l"/>
            <a:pathLst>
              <a:path h="6861336" w="6861336">
                <a:moveTo>
                  <a:pt x="0" y="0"/>
                </a:moveTo>
                <a:lnTo>
                  <a:pt x="6861336" y="0"/>
                </a:lnTo>
                <a:lnTo>
                  <a:pt x="6861336" y="6861336"/>
                </a:lnTo>
                <a:lnTo>
                  <a:pt x="0" y="6861336"/>
                </a:lnTo>
                <a:lnTo>
                  <a:pt x="0" y="0"/>
                </a:lnTo>
                <a:close/>
              </a:path>
            </a:pathLst>
          </a:custGeom>
          <a:blipFill>
            <a:blip r:embed="rId8"/>
            <a:stretch>
              <a:fillRect l="0" t="0" r="0" b="0"/>
            </a:stretch>
          </a:blipFill>
        </p:spPr>
      </p:sp>
      <p:grpSp>
        <p:nvGrpSpPr>
          <p:cNvPr name="Group 11" id="11"/>
          <p:cNvGrpSpPr>
            <a:grpSpLocks noChangeAspect="true"/>
          </p:cNvGrpSpPr>
          <p:nvPr/>
        </p:nvGrpSpPr>
        <p:grpSpPr>
          <a:xfrm rot="0">
            <a:off x="-1465259" y="5271152"/>
            <a:ext cx="5762707" cy="5951724"/>
            <a:chOff x="0" y="0"/>
            <a:chExt cx="6350000" cy="6558280"/>
          </a:xfrm>
        </p:grpSpPr>
        <p:sp>
          <p:nvSpPr>
            <p:cNvPr name="Freeform 12" id="12"/>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10"/>
              <a:stretch>
                <a:fillRect l="-120260" t="0" r="-828" b="0"/>
              </a:stretch>
            </a:blipFill>
          </p:spPr>
        </p:sp>
        <p:sp>
          <p:nvSpPr>
            <p:cNvPr name="Freeform 13" id="13"/>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8837388">
            <a:off x="-3401193" y="-2955510"/>
            <a:ext cx="5222398" cy="6726743"/>
          </a:xfrm>
          <a:custGeom>
            <a:avLst/>
            <a:gdLst/>
            <a:ahLst/>
            <a:cxnLst/>
            <a:rect r="r" b="b" t="t" l="l"/>
            <a:pathLst>
              <a:path h="6726743" w="5222398">
                <a:moveTo>
                  <a:pt x="0" y="0"/>
                </a:moveTo>
                <a:lnTo>
                  <a:pt x="5222398" y="0"/>
                </a:lnTo>
                <a:lnTo>
                  <a:pt x="5222398" y="6726743"/>
                </a:lnTo>
                <a:lnTo>
                  <a:pt x="0" y="67267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806831">
            <a:off x="12560717" y="1065628"/>
            <a:ext cx="12485157" cy="9034714"/>
          </a:xfrm>
          <a:custGeom>
            <a:avLst/>
            <a:gdLst/>
            <a:ahLst/>
            <a:cxnLst/>
            <a:rect r="r" b="b" t="t" l="l"/>
            <a:pathLst>
              <a:path h="9034714" w="12485157">
                <a:moveTo>
                  <a:pt x="0" y="0"/>
                </a:moveTo>
                <a:lnTo>
                  <a:pt x="12485157" y="0"/>
                </a:lnTo>
                <a:lnTo>
                  <a:pt x="12485157" y="9034714"/>
                </a:lnTo>
                <a:lnTo>
                  <a:pt x="0" y="9034714"/>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696749" y="8505032"/>
            <a:ext cx="8595850" cy="6345300"/>
          </a:xfrm>
          <a:custGeom>
            <a:avLst/>
            <a:gdLst/>
            <a:ahLst/>
            <a:cxnLst/>
            <a:rect r="r" b="b" t="t" l="l"/>
            <a:pathLst>
              <a:path h="6345300" w="8595850">
                <a:moveTo>
                  <a:pt x="0" y="0"/>
                </a:moveTo>
                <a:lnTo>
                  <a:pt x="8595850" y="0"/>
                </a:lnTo>
                <a:lnTo>
                  <a:pt x="8595850" y="6345300"/>
                </a:lnTo>
                <a:lnTo>
                  <a:pt x="0" y="63453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101557" y="1746060"/>
            <a:ext cx="14084886" cy="1057275"/>
          </a:xfrm>
          <a:prstGeom prst="rect">
            <a:avLst/>
          </a:prstGeom>
        </p:spPr>
        <p:txBody>
          <a:bodyPr anchor="t" rtlCol="false" tIns="0" lIns="0" bIns="0" rIns="0">
            <a:spAutoFit/>
          </a:bodyPr>
          <a:lstStyle/>
          <a:p>
            <a:pPr algn="ctr" marL="0" indent="0" lvl="0">
              <a:lnSpc>
                <a:spcPts val="8399"/>
              </a:lnSpc>
              <a:spcBef>
                <a:spcPct val="0"/>
              </a:spcBef>
            </a:pPr>
            <a:r>
              <a:rPr lang="en-US" b="true" sz="6999">
                <a:solidFill>
                  <a:srgbClr val="FFFFFF"/>
                </a:solidFill>
                <a:latin typeface="Bricolage Grotesque Bold"/>
                <a:ea typeface="Bricolage Grotesque Bold"/>
                <a:cs typeface="Bricolage Grotesque Bold"/>
                <a:sym typeface="Bricolage Grotesque Bold"/>
              </a:rPr>
              <a:t>RESULTADOS OBTENIDOS</a:t>
            </a:r>
          </a:p>
        </p:txBody>
      </p:sp>
      <p:sp>
        <p:nvSpPr>
          <p:cNvPr name="TextBox 6" id="6"/>
          <p:cNvSpPr txBox="true"/>
          <p:nvPr/>
        </p:nvSpPr>
        <p:spPr>
          <a:xfrm rot="0">
            <a:off x="3328637" y="3988941"/>
            <a:ext cx="11630725" cy="4352915"/>
          </a:xfrm>
          <a:prstGeom prst="rect">
            <a:avLst/>
          </a:prstGeom>
        </p:spPr>
        <p:txBody>
          <a:bodyPr anchor="t" rtlCol="false" tIns="0" lIns="0" bIns="0" rIns="0">
            <a:spAutoFit/>
          </a:bodyPr>
          <a:lstStyle/>
          <a:p>
            <a:pPr algn="l">
              <a:lnSpc>
                <a:spcPts val="5019"/>
              </a:lnSpc>
            </a:pPr>
            <a:r>
              <a:rPr lang="en-US" sz="3217">
                <a:solidFill>
                  <a:srgbClr val="FFFFFF"/>
                </a:solidFill>
                <a:latin typeface="Bricolage Grotesque"/>
                <a:ea typeface="Bricolage Grotesque"/>
                <a:cs typeface="Bricolage Grotesque"/>
                <a:sym typeface="Bricolage Grotesque"/>
              </a:rPr>
              <a:t>El proyecto resultó en una plataforma web completa que integra sensores IoT para monitorear consumo de agua residencial. Se implementaron funcionalidades clave como visualización en tiempo real, generación de reportes PDF, sistema de alertas y chatbot con inteligencia artificial. La solución permite a los usuarios analizar patrones de consumo y optimizar el uso del agua.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8837388">
            <a:off x="-3401193" y="-2955510"/>
            <a:ext cx="5222398" cy="6726743"/>
          </a:xfrm>
          <a:custGeom>
            <a:avLst/>
            <a:gdLst/>
            <a:ahLst/>
            <a:cxnLst/>
            <a:rect r="r" b="b" t="t" l="l"/>
            <a:pathLst>
              <a:path h="6726743" w="5222398">
                <a:moveTo>
                  <a:pt x="0" y="0"/>
                </a:moveTo>
                <a:lnTo>
                  <a:pt x="5222398" y="0"/>
                </a:lnTo>
                <a:lnTo>
                  <a:pt x="5222398" y="6726743"/>
                </a:lnTo>
                <a:lnTo>
                  <a:pt x="0" y="67267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806831">
            <a:off x="12560717" y="1065628"/>
            <a:ext cx="12485157" cy="9034714"/>
          </a:xfrm>
          <a:custGeom>
            <a:avLst/>
            <a:gdLst/>
            <a:ahLst/>
            <a:cxnLst/>
            <a:rect r="r" b="b" t="t" l="l"/>
            <a:pathLst>
              <a:path h="9034714" w="12485157">
                <a:moveTo>
                  <a:pt x="0" y="0"/>
                </a:moveTo>
                <a:lnTo>
                  <a:pt x="12485157" y="0"/>
                </a:lnTo>
                <a:lnTo>
                  <a:pt x="12485157" y="9034714"/>
                </a:lnTo>
                <a:lnTo>
                  <a:pt x="0" y="9034714"/>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696749" y="8505032"/>
            <a:ext cx="8595850" cy="6345300"/>
          </a:xfrm>
          <a:custGeom>
            <a:avLst/>
            <a:gdLst/>
            <a:ahLst/>
            <a:cxnLst/>
            <a:rect r="r" b="b" t="t" l="l"/>
            <a:pathLst>
              <a:path h="6345300" w="8595850">
                <a:moveTo>
                  <a:pt x="0" y="0"/>
                </a:moveTo>
                <a:lnTo>
                  <a:pt x="8595850" y="0"/>
                </a:lnTo>
                <a:lnTo>
                  <a:pt x="8595850" y="6345300"/>
                </a:lnTo>
                <a:lnTo>
                  <a:pt x="0" y="63453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101557" y="1746060"/>
            <a:ext cx="14084886" cy="3171825"/>
          </a:xfrm>
          <a:prstGeom prst="rect">
            <a:avLst/>
          </a:prstGeom>
        </p:spPr>
        <p:txBody>
          <a:bodyPr anchor="t" rtlCol="false" tIns="0" lIns="0" bIns="0" rIns="0">
            <a:spAutoFit/>
          </a:bodyPr>
          <a:lstStyle/>
          <a:p>
            <a:pPr algn="ctr">
              <a:lnSpc>
                <a:spcPts val="8399"/>
              </a:lnSpc>
            </a:pPr>
            <a:r>
              <a:rPr lang="en-US" b="true" sz="6999">
                <a:solidFill>
                  <a:srgbClr val="FFFFFF"/>
                </a:solidFill>
                <a:latin typeface="Bricolage Grotesque Bold"/>
                <a:ea typeface="Bricolage Grotesque Bold"/>
                <a:cs typeface="Bricolage Grotesque Bold"/>
                <a:sym typeface="Bricolage Grotesque Bold"/>
              </a:rPr>
              <a:t>OBSTÁCULOS PRESENTADOS DURANTE EL DESARROLLO</a:t>
            </a:r>
          </a:p>
          <a:p>
            <a:pPr algn="ctr" marL="0" indent="0" lvl="0">
              <a:lnSpc>
                <a:spcPts val="8399"/>
              </a:lnSpc>
              <a:spcBef>
                <a:spcPct val="0"/>
              </a:spcBef>
            </a:pPr>
          </a:p>
        </p:txBody>
      </p:sp>
      <p:sp>
        <p:nvSpPr>
          <p:cNvPr name="TextBox 6" id="6"/>
          <p:cNvSpPr txBox="true"/>
          <p:nvPr/>
        </p:nvSpPr>
        <p:spPr>
          <a:xfrm rot="0">
            <a:off x="1963389" y="4544142"/>
            <a:ext cx="14062571" cy="5035568"/>
          </a:xfrm>
          <a:prstGeom prst="rect">
            <a:avLst/>
          </a:prstGeom>
        </p:spPr>
        <p:txBody>
          <a:bodyPr anchor="t" rtlCol="false" tIns="0" lIns="0" bIns="0" rIns="0">
            <a:spAutoFit/>
          </a:bodyPr>
          <a:lstStyle/>
          <a:p>
            <a:pPr algn="l" marL="554658" indent="-277329" lvl="1">
              <a:lnSpc>
                <a:spcPts val="4007"/>
              </a:lnSpc>
              <a:buFont typeface="Arial"/>
              <a:buChar char="•"/>
            </a:pPr>
            <a:r>
              <a:rPr lang="en-US" b="true" sz="2569">
                <a:solidFill>
                  <a:srgbClr val="FFFFFF"/>
                </a:solidFill>
                <a:latin typeface="Bricolage Grotesque Bold"/>
                <a:ea typeface="Bricolage Grotesque Bold"/>
                <a:cs typeface="Bricolage Grotesque Bold"/>
                <a:sym typeface="Bricolage Grotesque Bold"/>
              </a:rPr>
              <a:t>Integración Hardware-Software:</a:t>
            </a:r>
            <a:r>
              <a:rPr lang="en-US" sz="2569">
                <a:solidFill>
                  <a:srgbClr val="FFFFFF"/>
                </a:solidFill>
                <a:latin typeface="Bricolage Grotesque"/>
                <a:ea typeface="Bricolage Grotesque"/>
                <a:cs typeface="Bricolage Grotesque"/>
                <a:sym typeface="Bricolage Grotesque"/>
              </a:rPr>
              <a:t> Comunicación estable entre sensores ESP32 y servidor mediante WiFi.</a:t>
            </a:r>
          </a:p>
          <a:p>
            <a:pPr algn="l" marL="554658" indent="-277329" lvl="1">
              <a:lnSpc>
                <a:spcPts val="4007"/>
              </a:lnSpc>
              <a:buFont typeface="Arial"/>
              <a:buChar char="•"/>
            </a:pPr>
            <a:r>
              <a:rPr lang="en-US" b="true" sz="2569">
                <a:solidFill>
                  <a:srgbClr val="FFFFFF"/>
                </a:solidFill>
                <a:latin typeface="Bricolage Grotesque Bold"/>
                <a:ea typeface="Bricolage Grotesque Bold"/>
                <a:cs typeface="Bricolage Grotesque Bold"/>
                <a:sym typeface="Bricolage Grotesque Bold"/>
              </a:rPr>
              <a:t>Procesamiento de Datos:</a:t>
            </a:r>
            <a:r>
              <a:rPr lang="en-US" sz="2569">
                <a:solidFill>
                  <a:srgbClr val="FFFFFF"/>
                </a:solidFill>
                <a:latin typeface="Bricolage Grotesque"/>
                <a:ea typeface="Bricolage Grotesque"/>
                <a:cs typeface="Bricolage Grotesque"/>
                <a:sym typeface="Bricolage Grotesque"/>
              </a:rPr>
              <a:t> Agregación automática de mediciones individuales en consumos diarios por sensor y hogar.</a:t>
            </a:r>
          </a:p>
          <a:p>
            <a:pPr algn="l" marL="554658" indent="-277329" lvl="1">
              <a:lnSpc>
                <a:spcPts val="4007"/>
              </a:lnSpc>
              <a:buFont typeface="Arial"/>
              <a:buChar char="•"/>
            </a:pPr>
            <a:r>
              <a:rPr lang="en-US" b="true" sz="2569">
                <a:solidFill>
                  <a:srgbClr val="FFFFFF"/>
                </a:solidFill>
                <a:latin typeface="Bricolage Grotesque Bold"/>
                <a:ea typeface="Bricolage Grotesque Bold"/>
                <a:cs typeface="Bricolage Grotesque Bold"/>
                <a:sym typeface="Bricolage Grotesque Bold"/>
              </a:rPr>
              <a:t>Inteligencia Artificial:</a:t>
            </a:r>
            <a:r>
              <a:rPr lang="en-US" sz="2569">
                <a:solidFill>
                  <a:srgbClr val="FFFFFF"/>
                </a:solidFill>
                <a:latin typeface="Bricolage Grotesque"/>
                <a:ea typeface="Bricolage Grotesque"/>
                <a:cs typeface="Bricolage Grotesque"/>
                <a:sym typeface="Bricolage Grotesque"/>
              </a:rPr>
              <a:t> Integración de Google Gemini AI para respuestas personalizadas basadas en datos de consumo.</a:t>
            </a:r>
          </a:p>
          <a:p>
            <a:pPr algn="l" marL="554658" indent="-277329" lvl="1">
              <a:lnSpc>
                <a:spcPts val="4007"/>
              </a:lnSpc>
              <a:buFont typeface="Arial"/>
              <a:buChar char="•"/>
            </a:pPr>
            <a:r>
              <a:rPr lang="en-US" b="true" sz="2569">
                <a:solidFill>
                  <a:srgbClr val="FFFFFF"/>
                </a:solidFill>
                <a:latin typeface="Bricolage Grotesque Bold"/>
                <a:ea typeface="Bricolage Grotesque Bold"/>
                <a:cs typeface="Bricolage Grotesque Bold"/>
                <a:sym typeface="Bricolage Grotesque Bold"/>
              </a:rPr>
              <a:t>Seguridad:</a:t>
            </a:r>
            <a:r>
              <a:rPr lang="en-US" sz="2569">
                <a:solidFill>
                  <a:srgbClr val="FFFFFF"/>
                </a:solidFill>
                <a:latin typeface="Bricolage Grotesque"/>
                <a:ea typeface="Bricolage Grotesque"/>
                <a:cs typeface="Bricolage Grotesque"/>
                <a:sym typeface="Bricolage Grotesque"/>
              </a:rPr>
              <a:t> Validación de sensores autorizados y control de acceso a datos por usuario.</a:t>
            </a:r>
          </a:p>
          <a:p>
            <a:pPr algn="l" marL="554658" indent="-277329" lvl="1">
              <a:lnSpc>
                <a:spcPts val="4007"/>
              </a:lnSpc>
              <a:buFont typeface="Arial"/>
              <a:buChar char="•"/>
            </a:pPr>
            <a:r>
              <a:rPr lang="en-US" b="true" sz="2569">
                <a:solidFill>
                  <a:srgbClr val="FFFFFF"/>
                </a:solidFill>
                <a:latin typeface="Bricolage Grotesque Bold"/>
                <a:ea typeface="Bricolage Grotesque Bold"/>
                <a:cs typeface="Bricolage Grotesque Bold"/>
                <a:sym typeface="Bricolage Grotesque Bold"/>
              </a:rPr>
              <a:t>Experiencia de Usuario:</a:t>
            </a:r>
            <a:r>
              <a:rPr lang="en-US" sz="2569">
                <a:solidFill>
                  <a:srgbClr val="FFFFFF"/>
                </a:solidFill>
                <a:latin typeface="Bricolage Grotesque"/>
                <a:ea typeface="Bricolage Grotesque"/>
                <a:cs typeface="Bricolage Grotesque"/>
                <a:sym typeface="Bricolage Grotesque"/>
              </a:rPr>
              <a:t> Visualización comprensible de datos técnicos mediante dashboards y gráficos interactivos.</a:t>
            </a:r>
          </a:p>
          <a:p>
            <a:pPr algn="l">
              <a:lnSpc>
                <a:spcPts val="4007"/>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405ACF"/>
        </a:solidFill>
      </p:bgPr>
    </p:bg>
    <p:spTree>
      <p:nvGrpSpPr>
        <p:cNvPr id="1" name=""/>
        <p:cNvGrpSpPr/>
        <p:nvPr/>
      </p:nvGrpSpPr>
      <p:grpSpPr>
        <a:xfrm>
          <a:off x="0" y="0"/>
          <a:ext cx="0" cy="0"/>
          <a:chOff x="0" y="0"/>
          <a:chExt cx="0" cy="0"/>
        </a:xfrm>
      </p:grpSpPr>
      <p:sp>
        <p:nvSpPr>
          <p:cNvPr name="Freeform 2" id="2"/>
          <p:cNvSpPr/>
          <p:nvPr/>
        </p:nvSpPr>
        <p:spPr>
          <a:xfrm flipH="false" flipV="false" rot="-8495456">
            <a:off x="8562764" y="-4274966"/>
            <a:ext cx="4432851" cy="5709761"/>
          </a:xfrm>
          <a:custGeom>
            <a:avLst/>
            <a:gdLst/>
            <a:ahLst/>
            <a:cxnLst/>
            <a:rect r="r" b="b" t="t" l="l"/>
            <a:pathLst>
              <a:path h="5709761" w="4432851">
                <a:moveTo>
                  <a:pt x="0" y="0"/>
                </a:moveTo>
                <a:lnTo>
                  <a:pt x="4432851" y="0"/>
                </a:lnTo>
                <a:lnTo>
                  <a:pt x="4432851" y="5709760"/>
                </a:lnTo>
                <a:lnTo>
                  <a:pt x="0" y="5709760"/>
                </a:lnTo>
                <a:lnTo>
                  <a:pt x="0"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495456">
            <a:off x="-3237239" y="8005028"/>
            <a:ext cx="4432851" cy="5709761"/>
          </a:xfrm>
          <a:custGeom>
            <a:avLst/>
            <a:gdLst/>
            <a:ahLst/>
            <a:cxnLst/>
            <a:rect r="r" b="b" t="t" l="l"/>
            <a:pathLst>
              <a:path h="5709761" w="4432851">
                <a:moveTo>
                  <a:pt x="0" y="0"/>
                </a:moveTo>
                <a:lnTo>
                  <a:pt x="4432850" y="0"/>
                </a:lnTo>
                <a:lnTo>
                  <a:pt x="4432850" y="5709761"/>
                </a:lnTo>
                <a:lnTo>
                  <a:pt x="0" y="5709761"/>
                </a:lnTo>
                <a:lnTo>
                  <a:pt x="0"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093678">
            <a:off x="8661818" y="1897465"/>
            <a:ext cx="14781928" cy="10696741"/>
          </a:xfrm>
          <a:custGeom>
            <a:avLst/>
            <a:gdLst/>
            <a:ahLst/>
            <a:cxnLst/>
            <a:rect r="r" b="b" t="t" l="l"/>
            <a:pathLst>
              <a:path h="10696741" w="14781928">
                <a:moveTo>
                  <a:pt x="0" y="0"/>
                </a:moveTo>
                <a:lnTo>
                  <a:pt x="14781928" y="0"/>
                </a:lnTo>
                <a:lnTo>
                  <a:pt x="14781928" y="10696741"/>
                </a:lnTo>
                <a:lnTo>
                  <a:pt x="0" y="10696741"/>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093678">
            <a:off x="-6693109" y="-5629550"/>
            <a:ext cx="14781928" cy="10696741"/>
          </a:xfrm>
          <a:custGeom>
            <a:avLst/>
            <a:gdLst/>
            <a:ahLst/>
            <a:cxnLst/>
            <a:rect r="r" b="b" t="t" l="l"/>
            <a:pathLst>
              <a:path h="10696741" w="14781928">
                <a:moveTo>
                  <a:pt x="0" y="0"/>
                </a:moveTo>
                <a:lnTo>
                  <a:pt x="14781928" y="0"/>
                </a:lnTo>
                <a:lnTo>
                  <a:pt x="14781928" y="10696740"/>
                </a:lnTo>
                <a:lnTo>
                  <a:pt x="0" y="10696740"/>
                </a:lnTo>
                <a:lnTo>
                  <a:pt x="0" y="0"/>
                </a:lnTo>
                <a:close/>
              </a:path>
            </a:pathLst>
          </a:custGeom>
          <a:blipFill>
            <a:blip r:embed="rId4">
              <a:alphaModFix amt="28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490751" y="1574862"/>
            <a:ext cx="9997097" cy="12287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Bricolage Grotesque Bold"/>
                <a:ea typeface="Bricolage Grotesque Bold"/>
                <a:cs typeface="Bricolage Grotesque Bold"/>
                <a:sym typeface="Bricolage Grotesque Bold"/>
              </a:rPr>
              <a:t>CONCLUSION</a:t>
            </a:r>
          </a:p>
        </p:txBody>
      </p:sp>
      <p:sp>
        <p:nvSpPr>
          <p:cNvPr name="TextBox 7" id="7"/>
          <p:cNvSpPr txBox="true"/>
          <p:nvPr/>
        </p:nvSpPr>
        <p:spPr>
          <a:xfrm rot="0">
            <a:off x="1831001" y="2842260"/>
            <a:ext cx="6484602" cy="6416040"/>
          </a:xfrm>
          <a:prstGeom prst="rect">
            <a:avLst/>
          </a:prstGeom>
        </p:spPr>
        <p:txBody>
          <a:bodyPr anchor="t" rtlCol="false" tIns="0" lIns="0" bIns="0" rIns="0">
            <a:spAutoFit/>
          </a:bodyPr>
          <a:lstStyle/>
          <a:p>
            <a:pPr algn="l" marL="0" indent="0" lvl="1">
              <a:lnSpc>
                <a:spcPts val="3900"/>
              </a:lnSpc>
              <a:spcBef>
                <a:spcPct val="0"/>
              </a:spcBef>
            </a:pPr>
            <a:r>
              <a:rPr lang="en-US" sz="2600">
                <a:solidFill>
                  <a:srgbClr val="FFFFFF"/>
                </a:solidFill>
                <a:latin typeface="Nourd"/>
                <a:ea typeface="Nourd"/>
                <a:cs typeface="Nourd"/>
                <a:sym typeface="Nourd"/>
              </a:rPr>
              <a:t>La implementación de Aquatracking ha demostrado ser una solución eficaz y moderna para optimizar la supervisión del consumo de agua. Este enfoque, que combina la versatilidad del IoT con el análisis predictivo, no solo mejora la trans</a:t>
            </a:r>
            <a:r>
              <a:rPr lang="en-US" sz="2600">
                <a:solidFill>
                  <a:srgbClr val="FFFFFF"/>
                </a:solidFill>
                <a:latin typeface="Nourd"/>
                <a:ea typeface="Nourd"/>
                <a:cs typeface="Nourd"/>
                <a:sym typeface="Nourd"/>
              </a:rPr>
              <a:t>parencia y el control operativo, sino que también representa una sólida oportunidad de innovación en el mercado, permitiendo a los usuarios gestionar sus recursos con un nivel de precisión y tecnología antes reservado para sistemas industriales.</a:t>
            </a:r>
          </a:p>
        </p:txBody>
      </p:sp>
      <p:sp>
        <p:nvSpPr>
          <p:cNvPr name="Freeform 8" id="8"/>
          <p:cNvSpPr/>
          <p:nvPr/>
        </p:nvSpPr>
        <p:spPr>
          <a:xfrm flipH="false" flipV="false" rot="0">
            <a:off x="11652178" y="699885"/>
            <a:ext cx="8887229" cy="8887229"/>
          </a:xfrm>
          <a:custGeom>
            <a:avLst/>
            <a:gdLst/>
            <a:ahLst/>
            <a:cxnLst/>
            <a:rect r="r" b="b" t="t" l="l"/>
            <a:pathLst>
              <a:path h="8887229" w="8887229">
                <a:moveTo>
                  <a:pt x="0" y="0"/>
                </a:moveTo>
                <a:lnTo>
                  <a:pt x="8887229" y="0"/>
                </a:lnTo>
                <a:lnTo>
                  <a:pt x="8887229" y="8887230"/>
                </a:lnTo>
                <a:lnTo>
                  <a:pt x="0" y="8887230"/>
                </a:lnTo>
                <a:lnTo>
                  <a:pt x="0" y="0"/>
                </a:lnTo>
                <a:close/>
              </a:path>
            </a:pathLst>
          </a:custGeom>
          <a:blipFill>
            <a:blip r:embed="rId6"/>
            <a:stretch>
              <a:fillRect l="0" t="0" r="0" b="0"/>
            </a:stretch>
          </a:blipFill>
        </p:spPr>
      </p:sp>
      <p:grpSp>
        <p:nvGrpSpPr>
          <p:cNvPr name="Group 9" id="9"/>
          <p:cNvGrpSpPr>
            <a:grpSpLocks noChangeAspect="true"/>
          </p:cNvGrpSpPr>
          <p:nvPr/>
        </p:nvGrpSpPr>
        <p:grpSpPr>
          <a:xfrm rot="0">
            <a:off x="12119725" y="1549257"/>
            <a:ext cx="7464216" cy="7709043"/>
            <a:chOff x="0" y="0"/>
            <a:chExt cx="6350000" cy="6558280"/>
          </a:xfrm>
        </p:grpSpPr>
        <p:sp>
          <p:nvSpPr>
            <p:cNvPr name="Freeform 10" id="10"/>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7"/>
              <a:stretch>
                <a:fillRect l="-27519" t="0" r="-27519" b="0"/>
              </a:stretch>
            </a:blipFill>
          </p:spPr>
        </p:sp>
        <p:sp>
          <p:nvSpPr>
            <p:cNvPr name="Freeform 11" id="11"/>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8932766">
            <a:off x="11424280" y="6941725"/>
            <a:ext cx="8802070" cy="5889385"/>
          </a:xfrm>
          <a:custGeom>
            <a:avLst/>
            <a:gdLst/>
            <a:ahLst/>
            <a:cxnLst/>
            <a:rect r="r" b="b" t="t" l="l"/>
            <a:pathLst>
              <a:path h="5889385" w="8802070">
                <a:moveTo>
                  <a:pt x="0" y="0"/>
                </a:moveTo>
                <a:lnTo>
                  <a:pt x="8802070" y="0"/>
                </a:lnTo>
                <a:lnTo>
                  <a:pt x="8802070" y="5889385"/>
                </a:lnTo>
                <a:lnTo>
                  <a:pt x="0" y="58893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6373566">
            <a:off x="12776612" y="-2704720"/>
            <a:ext cx="3194581" cy="4114800"/>
          </a:xfrm>
          <a:custGeom>
            <a:avLst/>
            <a:gdLst/>
            <a:ahLst/>
            <a:cxnLst/>
            <a:rect r="r" b="b" t="t" l="l"/>
            <a:pathLst>
              <a:path h="4114800" w="3194581">
                <a:moveTo>
                  <a:pt x="0" y="0"/>
                </a:moveTo>
                <a:lnTo>
                  <a:pt x="3194581" y="0"/>
                </a:lnTo>
                <a:lnTo>
                  <a:pt x="319458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830749">
            <a:off x="-2366934" y="458508"/>
            <a:ext cx="5078842" cy="6541834"/>
          </a:xfrm>
          <a:custGeom>
            <a:avLst/>
            <a:gdLst/>
            <a:ahLst/>
            <a:cxnLst/>
            <a:rect r="r" b="b" t="t" l="l"/>
            <a:pathLst>
              <a:path h="6541834" w="5078842">
                <a:moveTo>
                  <a:pt x="0" y="0"/>
                </a:moveTo>
                <a:lnTo>
                  <a:pt x="5078843" y="0"/>
                </a:lnTo>
                <a:lnTo>
                  <a:pt x="5078843" y="6541834"/>
                </a:lnTo>
                <a:lnTo>
                  <a:pt x="0" y="65418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707660" y="2749701"/>
            <a:ext cx="14872679" cy="3450153"/>
          </a:xfrm>
          <a:prstGeom prst="rect">
            <a:avLst/>
          </a:prstGeom>
        </p:spPr>
        <p:txBody>
          <a:bodyPr anchor="t" rtlCol="false" tIns="0" lIns="0" bIns="0" rIns="0">
            <a:spAutoFit/>
          </a:bodyPr>
          <a:lstStyle/>
          <a:p>
            <a:pPr algn="l">
              <a:lnSpc>
                <a:spcPts val="13530"/>
              </a:lnSpc>
            </a:pPr>
            <a:r>
              <a:rPr lang="en-US" sz="11664" b="true">
                <a:solidFill>
                  <a:srgbClr val="FFFFFF"/>
                </a:solidFill>
                <a:latin typeface="Bricolage Grotesque Bold"/>
                <a:ea typeface="Bricolage Grotesque Bold"/>
                <a:cs typeface="Bricolage Grotesque Bold"/>
                <a:sym typeface="Bricolage Grotesque Bold"/>
              </a:rPr>
              <a:t>¡GRACIAS POR</a:t>
            </a:r>
          </a:p>
          <a:p>
            <a:pPr algn="l">
              <a:lnSpc>
                <a:spcPts val="13530"/>
              </a:lnSpc>
            </a:pPr>
            <a:r>
              <a:rPr lang="en-US" sz="11664" b="true">
                <a:solidFill>
                  <a:srgbClr val="FFFFFF"/>
                </a:solidFill>
                <a:latin typeface="Bricolage Grotesque Bold"/>
                <a:ea typeface="Bricolage Grotesque Bold"/>
                <a:cs typeface="Bricolage Grotesque Bold"/>
                <a:sym typeface="Bricolage Grotesque Bold"/>
              </a:rPr>
              <a:t>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DAG6MJDyYfA</dc:identifier>
  <dcterms:modified xsi:type="dcterms:W3CDTF">2011-08-01T06:04:30Z</dcterms:modified>
  <cp:revision>1</cp:revision>
  <dc:title>Presentación Propuesta de Proyecto Minimalista Gradiente Azul</dc:title>
</cp:coreProperties>
</file>