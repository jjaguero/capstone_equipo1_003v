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9" r:id="rId10"/>
    <p:sldId id="270" r:id="rId11"/>
    <p:sldId id="265" r:id="rId12"/>
    <p:sldId id="267" r:id="rId13"/>
    <p:sldId id="268" r:id="rId14"/>
    <p:sldId id="266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CL" dirty="0"/>
            <a:t>Juan José Agüero</a:t>
          </a:r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CL" dirty="0" err="1"/>
            <a:t>Developer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CL" dirty="0"/>
            <a:t>Andrés Silva</a:t>
          </a:r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CL" dirty="0"/>
            <a:t>Desarrollo e </a:t>
          </a:r>
          <a:r>
            <a:rPr lang="es-CL" dirty="0" err="1"/>
            <a:t>integracion</a:t>
          </a:r>
          <a:endParaRPr lang="es-CL" dirty="0"/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CL" dirty="0" err="1"/>
            <a:t>Product</a:t>
          </a:r>
          <a:r>
            <a:rPr lang="es-CL" dirty="0"/>
            <a:t> </a:t>
          </a:r>
          <a:r>
            <a:rPr lang="es-CL" dirty="0" err="1"/>
            <a:t>Owner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CL" dirty="0"/>
            <a:t>Gestor BD y Proyecto</a:t>
          </a:r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2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2"/>
      <dgm:spPr/>
    </dgm:pt>
    <dgm:pt modelId="{52D125D2-FCA7-4A2D-AB39-B6BD54F251F2}" type="pres">
      <dgm:prSet presAssocID="{78BFB295-8F5D-4286-B72B-79142F8F0E13}" presName="text" presStyleLbl="node1" presStyleIdx="0" presStyleCnt="2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2"/>
      <dgm:spPr/>
    </dgm:pt>
    <dgm:pt modelId="{3F97C059-D720-4D48-953F-B84D04D0BF79}" type="pres">
      <dgm:prSet presAssocID="{02A34BC0-F8BA-4A89-87A4-4F20079DFD06}" presName="img" presStyleLbl="fgImgPlace1" presStyleIdx="1" presStyleCnt="2"/>
      <dgm:spPr/>
    </dgm:pt>
    <dgm:pt modelId="{CFFDF23F-D296-4CDF-8EE4-8A672559E207}" type="pres">
      <dgm:prSet presAssocID="{02A34BC0-F8BA-4A89-87A4-4F20079DFD06}" presName="text" presStyleLbl="node1" presStyleIdx="1" presStyleCnt="2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4000" kern="1200" dirty="0"/>
            <a:t>Juan José Agüero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3100" kern="1200" dirty="0" err="1"/>
            <a:t>Developer</a:t>
          </a:r>
          <a:endParaRPr lang="es-CL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3100" kern="1200" dirty="0"/>
            <a:t>Desarrollo e </a:t>
          </a:r>
          <a:r>
            <a:rPr lang="es-CL" sz="3100" kern="1200" dirty="0" err="1"/>
            <a:t>integracion</a:t>
          </a:r>
          <a:endParaRPr lang="es-CL" sz="3100" kern="1200" dirty="0"/>
        </a:p>
      </dsp:txBody>
      <dsp:txXfrm>
        <a:off x="1733817" y="0"/>
        <a:ext cx="5899676" cy="2071186"/>
      </dsp:txXfrm>
    </dsp:sp>
    <dsp:sp modelId="{9A7E2690-DE9C-4572-9BE5-B8C9A3B8BBB3}">
      <dsp:nvSpPr>
        <dsp:cNvPr id="0" name=""/>
        <dsp:cNvSpPr/>
      </dsp:nvSpPr>
      <dsp:spPr>
        <a:xfrm>
          <a:off x="207118" y="207118"/>
          <a:ext cx="1526698" cy="1656949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2278305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4000" kern="1200" dirty="0"/>
            <a:t>Andrés Silva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3100" kern="1200" dirty="0" err="1"/>
            <a:t>Product</a:t>
          </a:r>
          <a:r>
            <a:rPr lang="es-CL" sz="3100" kern="1200" dirty="0"/>
            <a:t> </a:t>
          </a:r>
          <a:r>
            <a:rPr lang="es-CL" sz="3100" kern="1200" dirty="0" err="1"/>
            <a:t>Owner</a:t>
          </a:r>
          <a:endParaRPr lang="es-CL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3100" kern="1200" dirty="0"/>
            <a:t>Gestor BD y Proyecto</a:t>
          </a:r>
        </a:p>
      </dsp:txBody>
      <dsp:txXfrm>
        <a:off x="1733817" y="2278305"/>
        <a:ext cx="5899676" cy="2071186"/>
      </dsp:txXfrm>
    </dsp:sp>
    <dsp:sp modelId="{3F97C059-D720-4D48-953F-B84D04D0BF79}">
      <dsp:nvSpPr>
        <dsp:cNvPr id="0" name=""/>
        <dsp:cNvSpPr/>
      </dsp:nvSpPr>
      <dsp:spPr>
        <a:xfrm>
          <a:off x="207118" y="2485423"/>
          <a:ext cx="1526698" cy="1656949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17-11-2025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</a:t>
            </a:r>
            <a:r>
              <a:rPr lang="es-MX" sz="4400" dirty="0" err="1"/>
              <a:t>Aquatracking</a:t>
            </a:r>
            <a:r>
              <a:rPr lang="es-MX" sz="4400" dirty="0"/>
              <a:t>”</a:t>
            </a:r>
          </a:p>
          <a:p>
            <a:pPr algn="ctr"/>
            <a:r>
              <a:rPr lang="es-MX" sz="2400" dirty="0"/>
              <a:t>PRESENTACIÓN FINAL CAPSTONE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313804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FD1D7D02-D4DD-434D-473E-F9EEE715E0F8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AquaTracking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AquaTracking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algn="just"/>
            <a:r>
              <a:rPr lang="es-ES" dirty="0"/>
              <a:t>Actualmente, los hogares carecen de herramientas accesibles que les permitan monitorear, entender y gestionar su propio consumo en detalle. Sin esta visibilidad, es imposible identificar patrones o fomentar hábitos de ahorro.</a:t>
            </a:r>
            <a:endParaRPr lang="es-CL" sz="1800" dirty="0"/>
          </a:p>
          <a:p>
            <a:pPr lvl="0" algn="ctr"/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lvl="0" algn="just"/>
            <a:r>
              <a:rPr lang="es-ES" b="1" dirty="0" err="1"/>
              <a:t>AquaTracking</a:t>
            </a:r>
            <a:r>
              <a:rPr lang="es-ES" dirty="0"/>
              <a:t>, un sistema integral de análisis de datos diseñado para cerrar la brecha de información que causa el consumo ineficiente de agua. </a:t>
            </a:r>
            <a:endParaRPr lang="es-CL" sz="18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3" y="2030635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Implementar un sistema web y de sensores para monitorear y optimizar el consumo de agua en los hogares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73240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Tx/>
              <a:buChar char="-"/>
            </a:pPr>
            <a:r>
              <a:rPr lang="es-ES" dirty="0"/>
              <a:t>Recolectar y almacenar los datos de consumo en MongoDB.</a:t>
            </a:r>
          </a:p>
          <a:p>
            <a:pPr marL="285750" indent="-285750" algn="ctr">
              <a:buFontTx/>
              <a:buChar char="-"/>
            </a:pPr>
            <a:r>
              <a:rPr lang="es-ES" dirty="0"/>
              <a:t>Analizar los datos para identificar patrones de consumo.</a:t>
            </a:r>
          </a:p>
          <a:p>
            <a:pPr marL="285750" indent="-285750" algn="ctr">
              <a:buFontTx/>
              <a:buChar char="-"/>
            </a:pPr>
            <a:r>
              <a:rPr lang="es-ES" dirty="0"/>
              <a:t>Diseñar una plataforma web interactiva para los usuarios.</a:t>
            </a:r>
          </a:p>
          <a:p>
            <a:pPr marL="285750" indent="-285750" algn="ctr">
              <a:buFontTx/>
              <a:buChar char="-"/>
            </a:pPr>
            <a:r>
              <a:rPr lang="es-ES" dirty="0"/>
              <a:t>Implementar visualizaciones claras (gráficos y tablas).</a:t>
            </a:r>
          </a:p>
          <a:p>
            <a:pPr marL="285750" indent="-285750" algn="ctr">
              <a:buFontTx/>
              <a:buChar char="-"/>
            </a:pPr>
            <a:r>
              <a:rPr lang="es-ES" dirty="0"/>
              <a:t>Garantizar la calidad, usabilidad y seguridad (Normas ISO)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3943E04-AD74-97E5-800B-D105BC2F4B88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AquaTracking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9CFF4D9E-43AE-D83F-5816-E62F2A0BB577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AquaTracking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1CFA91D-57A7-11BB-7A0B-460C4C5B273D}"/>
              </a:ext>
            </a:extLst>
          </p:cNvPr>
          <p:cNvSpPr txBox="1"/>
          <p:nvPr/>
        </p:nvSpPr>
        <p:spPr>
          <a:xfrm>
            <a:off x="522514" y="2397967"/>
            <a:ext cx="1106610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Alcance</a:t>
            </a:r>
          </a:p>
          <a:p>
            <a:r>
              <a:rPr lang="es-ES" dirty="0"/>
              <a:t>Se implementó un sistema web para monitorear y analizar el consumo de agua en tiempo real.</a:t>
            </a:r>
          </a:p>
          <a:p>
            <a:r>
              <a:rPr lang="es-ES" dirty="0"/>
              <a:t>El sistema identifica patrones de consumo y los presenta en gráficos y tablas.</a:t>
            </a:r>
          </a:p>
          <a:p>
            <a:r>
              <a:rPr lang="es-ES" dirty="0"/>
              <a:t>El proyecto se adhirió a estándares de calidad, usabilidad y seguridad (ISO).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Limitaciones</a:t>
            </a:r>
          </a:p>
          <a:p>
            <a:r>
              <a:rPr lang="es-ES" dirty="0"/>
              <a:t>El sistema requiere instalación de hardware (sensores) y no es universal.</a:t>
            </a:r>
          </a:p>
          <a:p>
            <a:r>
              <a:rPr lang="es-ES" dirty="0"/>
              <a:t>El modelo de predicción es básico y no detecta </a:t>
            </a:r>
            <a:r>
              <a:rPr lang="es-ES" dirty="0" err="1"/>
              <a:t>micro-fugas</a:t>
            </a:r>
            <a:r>
              <a:rPr lang="es-ES" dirty="0"/>
              <a:t>.</a:t>
            </a:r>
          </a:p>
          <a:p>
            <a:r>
              <a:rPr lang="es-ES" dirty="0"/>
              <a:t>El </a:t>
            </a:r>
            <a:r>
              <a:rPr lang="es-ES" dirty="0" err="1"/>
              <a:t>ChatBot</a:t>
            </a:r>
            <a:r>
              <a:rPr lang="es-ES" dirty="0"/>
              <a:t> implementado es solo para soporte básico.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para el desarrollo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606EC035-650A-6AA4-79E0-711F3C30159C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AquaTracking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406A210-6A48-AEC8-5689-AF4A7CE0A270}"/>
              </a:ext>
            </a:extLst>
          </p:cNvPr>
          <p:cNvSpPr txBox="1"/>
          <p:nvPr/>
        </p:nvSpPr>
        <p:spPr>
          <a:xfrm>
            <a:off x="541176" y="2332653"/>
            <a:ext cx="110194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Metodología ágil Scrum</a:t>
            </a:r>
          </a:p>
          <a:p>
            <a:endParaRPr lang="es-ES" b="1" dirty="0"/>
          </a:p>
          <a:p>
            <a:r>
              <a:rPr lang="es-ES" dirty="0"/>
              <a:t>Esto nos permitió gestionar el proyecto de forma iterativa y colaborativa, adaptándonos a los requisitos del cliente y enfocándonos en la entrega continua de valor. El trabajo se organizó en </a:t>
            </a:r>
            <a:r>
              <a:rPr lang="es-ES" dirty="0" err="1"/>
              <a:t>sprints</a:t>
            </a:r>
            <a:r>
              <a:rPr lang="es-ES" dirty="0"/>
              <a:t> de 1 a 2 semanas, con reuniones diarias y revisiones constantes con el cliente para validar los avances.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para el desarrollo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4030179E-5411-7CC4-2F54-F26CD9AF0660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AquaTracking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3F2801-8ACF-3C3C-EC63-66AACB11D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599" y="1842592"/>
            <a:ext cx="9718802" cy="480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47F2643F-A496-C30A-9D17-1E1B897FCA0C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AquaTracking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4974E9-949F-5BFA-CCFC-826EFE04D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349" y="2078986"/>
            <a:ext cx="8099676" cy="421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A78669E5-F470-1893-7CBA-E5A2E622AC82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AquaTracking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6D9BF03-0BBC-029F-91E2-345158398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661" y="2078986"/>
            <a:ext cx="7914678" cy="466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E5E3A081-5675-53F2-F1E4-C7D20ADFD778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 err="1">
                <a:solidFill>
                  <a:schemeClr val="bg2">
                    <a:lumMod val="50000"/>
                  </a:schemeClr>
                </a:solidFill>
              </a:rPr>
              <a:t>AquaTracking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3" name="AutoShape 2" descr="Introducción | Vite">
            <a:extLst>
              <a:ext uri="{FF2B5EF4-FFF2-40B4-BE49-F238E27FC236}">
                <a16:creationId xmlns:a16="http://schemas.microsoft.com/office/drawing/2014/main" id="{77BD52A0-9B54-5A1E-94FA-46A51C69C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4" descr="Introducción | Vite">
            <a:extLst>
              <a:ext uri="{FF2B5EF4-FFF2-40B4-BE49-F238E27FC236}">
                <a16:creationId xmlns:a16="http://schemas.microsoft.com/office/drawing/2014/main" id="{08DFF5EF-91FE-A9FA-46BB-216A6A6693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553478" cy="2553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46FC6CF-D686-22B4-197D-EF1193363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918" y="2518739"/>
            <a:ext cx="1796384" cy="1770095"/>
          </a:xfrm>
          <a:prstGeom prst="rect">
            <a:avLst/>
          </a:prstGeom>
        </p:spPr>
      </p:pic>
      <p:pic>
        <p:nvPicPr>
          <p:cNvPr id="3078" name="Picture 6" descr="Why Choose React? An atmail perspective - email company">
            <a:extLst>
              <a:ext uri="{FF2B5EF4-FFF2-40B4-BE49-F238E27FC236}">
                <a16:creationId xmlns:a16="http://schemas.microsoft.com/office/drawing/2014/main" id="{06E2B3D5-E4E1-FC1C-FC14-2558DF0FB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110" y="4884190"/>
            <a:ext cx="3270591" cy="109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8" descr="Trello Logo Logotipo Vector - Descarga Gratis SVG | Worldvectorlogo">
            <a:extLst>
              <a:ext uri="{FF2B5EF4-FFF2-40B4-BE49-F238E27FC236}">
                <a16:creationId xmlns:a16="http://schemas.microsoft.com/office/drawing/2014/main" id="{A8F6DC86-2CB5-F9EB-7E5E-AEBDE9E17F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DF56C57-C1B5-8439-D0E1-840C3AC178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9440" y="2691567"/>
            <a:ext cx="3542522" cy="101174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4251433-A122-B30B-9C24-2481F29728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9" y="4166433"/>
            <a:ext cx="1788767" cy="209627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678EF42-8257-9502-8503-CC1E968359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2237" y="4378279"/>
            <a:ext cx="3270591" cy="11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  <p:pic>
        <p:nvPicPr>
          <p:cNvPr id="4098" name="Picture 2" descr="duda - Antiun">
            <a:extLst>
              <a:ext uri="{FF2B5EF4-FFF2-40B4-BE49-F238E27FC236}">
                <a16:creationId xmlns:a16="http://schemas.microsoft.com/office/drawing/2014/main" id="{7B95D850-64FA-6AC8-AEEB-2CAADBA17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660" y="2739312"/>
            <a:ext cx="3232280" cy="3232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381</Words>
  <Application>Microsoft Office PowerPoint</Application>
  <PresentationFormat>Panorámica</PresentationFormat>
  <Paragraphs>55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Andrés Silva A.</cp:lastModifiedBy>
  <cp:revision>2</cp:revision>
  <dcterms:created xsi:type="dcterms:W3CDTF">2023-10-28T21:12:11Z</dcterms:created>
  <dcterms:modified xsi:type="dcterms:W3CDTF">2025-11-18T02:55:56Z</dcterms:modified>
</cp:coreProperties>
</file>